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3" r:id="rId1"/>
  </p:sldMasterIdLst>
  <p:sldIdLst>
    <p:sldId id="256" r:id="rId2"/>
    <p:sldId id="258" r:id="rId3"/>
    <p:sldId id="257" r:id="rId4"/>
    <p:sldId id="260" r:id="rId5"/>
    <p:sldId id="259" r:id="rId6"/>
    <p:sldId id="261" r:id="rId7"/>
    <p:sldId id="265" r:id="rId8"/>
    <p:sldId id="271" r:id="rId9"/>
    <p:sldId id="272" r:id="rId10"/>
    <p:sldId id="273" r:id="rId11"/>
    <p:sldId id="274" r:id="rId12"/>
    <p:sldId id="275" r:id="rId13"/>
    <p:sldId id="262" r:id="rId14"/>
    <p:sldId id="268" r:id="rId15"/>
    <p:sldId id="270" r:id="rId16"/>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58" autoAdjust="0"/>
    <p:restoredTop sz="94660"/>
  </p:normalViewPr>
  <p:slideViewPr>
    <p:cSldViewPr snapToGrid="0">
      <p:cViewPr varScale="1">
        <p:scale>
          <a:sx n="106" d="100"/>
          <a:sy n="106" d="100"/>
        </p:scale>
        <p:origin x="50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7/18/2026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381709394"/>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7/18/2026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‹N›</a:t>
            </a:fld>
            <a:endParaRPr lang="en-US"/>
          </a:p>
        </p:txBody>
      </p:sp>
    </p:spTree>
    <p:extLst>
      <p:ext uri="{BB962C8B-B14F-4D97-AF65-F5344CB8AC3E}">
        <p14:creationId xmlns:p14="http://schemas.microsoft.com/office/powerpoint/2010/main" val="2842817129"/>
      </p:ext>
    </p:extLst>
  </p:cSld>
  <p:clrMap bg1="lt1" tx1="dk1" bg2="lt2" tx2="dk2" accent1="accent1" accent2="accent2" accent3="accent3" accent4="accent4" accent5="accent5" accent6="accent6" hlink="hlink" folHlink="folHlink"/>
  <p:sldLayoutIdLst>
    <p:sldLayoutId id="2147483712" r:id="rId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1A32057F-F015-B1B2-4E3E-2307F8EFC9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4545BC75-DC1C-3C50-C1F9-8EDF17090805}"/>
              </a:ext>
            </a:extLst>
          </p:cNvPr>
          <p:cNvSpPr>
            <a:spLocks noGrp="1"/>
          </p:cNvSpPr>
          <p:nvPr>
            <p:ph type="ctrTitle"/>
          </p:nvPr>
        </p:nvSpPr>
        <p:spPr>
          <a:xfrm>
            <a:off x="7168896" y="1129554"/>
            <a:ext cx="4361688" cy="3475236"/>
          </a:xfrm>
        </p:spPr>
        <p:txBody>
          <a:bodyPr>
            <a:normAutofit/>
          </a:bodyPr>
          <a:lstStyle/>
          <a:p>
            <a:pPr algn="l"/>
            <a:r>
              <a:rPr lang="en-US" sz="3000" dirty="0"/>
              <a:t>Investigating Real-Time Communication Between Asymmetric Processors with </a:t>
            </a:r>
            <a:r>
              <a:rPr lang="en-US" sz="3000" dirty="0" err="1"/>
              <a:t>OpenAMP</a:t>
            </a:r>
            <a:r>
              <a:rPr lang="it-IT" sz="3000" dirty="0"/>
              <a:t> </a:t>
            </a:r>
            <a:br>
              <a:rPr lang="it-IT" sz="3000" b="0" i="0" dirty="0">
                <a:effectLst/>
              </a:rPr>
            </a:br>
            <a:endParaRPr lang="it-IT" sz="3000" dirty="0"/>
          </a:p>
        </p:txBody>
      </p:sp>
      <p:sp>
        <p:nvSpPr>
          <p:cNvPr id="3" name="Sottotitolo 2">
            <a:extLst>
              <a:ext uri="{FF2B5EF4-FFF2-40B4-BE49-F238E27FC236}">
                <a16:creationId xmlns:a16="http://schemas.microsoft.com/office/drawing/2014/main" id="{75073BC5-2DEC-0F32-2360-2ECCFC91FBAC}"/>
              </a:ext>
            </a:extLst>
          </p:cNvPr>
          <p:cNvSpPr>
            <a:spLocks noGrp="1"/>
          </p:cNvSpPr>
          <p:nvPr>
            <p:ph type="subTitle" idx="1"/>
          </p:nvPr>
        </p:nvSpPr>
        <p:spPr>
          <a:xfrm>
            <a:off x="7168896" y="4928107"/>
            <a:ext cx="4206240" cy="1184584"/>
          </a:xfrm>
        </p:spPr>
        <p:txBody>
          <a:bodyPr>
            <a:normAutofit/>
          </a:bodyPr>
          <a:lstStyle/>
          <a:p>
            <a:pPr algn="l"/>
            <a:r>
              <a:rPr lang="it-IT" b="1" i="1" dirty="0"/>
              <a:t>Barbato Emanuele</a:t>
            </a:r>
          </a:p>
          <a:p>
            <a:pPr algn="l"/>
            <a:r>
              <a:rPr lang="it-IT" i="1"/>
              <a:t>M63001822</a:t>
            </a:r>
            <a:endParaRPr lang="it-IT" i="1" dirty="0"/>
          </a:p>
        </p:txBody>
      </p:sp>
      <p:pic>
        <p:nvPicPr>
          <p:cNvPr id="4" name="Picture 3">
            <a:extLst>
              <a:ext uri="{FF2B5EF4-FFF2-40B4-BE49-F238E27FC236}">
                <a16:creationId xmlns:a16="http://schemas.microsoft.com/office/drawing/2014/main" id="{822371AE-7F60-EA7A-476F-E8978CEE9316}"/>
              </a:ext>
            </a:extLst>
          </p:cNvPr>
          <p:cNvPicPr>
            <a:picLocks noChangeAspect="1"/>
          </p:cNvPicPr>
          <p:nvPr/>
        </p:nvPicPr>
        <p:blipFill>
          <a:blip r:embed="rId2"/>
          <a:srcRect l="6261" r="39805"/>
          <a:stretch>
            <a:fillRect/>
          </a:stretch>
        </p:blipFill>
        <p:spPr>
          <a:xfrm>
            <a:off x="20" y="1"/>
            <a:ext cx="6575591" cy="6858000"/>
          </a:xfrm>
          <a:prstGeom prst="rect">
            <a:avLst/>
          </a:prstGeom>
        </p:spPr>
      </p:pic>
    </p:spTree>
    <p:extLst>
      <p:ext uri="{BB962C8B-B14F-4D97-AF65-F5344CB8AC3E}">
        <p14:creationId xmlns:p14="http://schemas.microsoft.com/office/powerpoint/2010/main" val="38954702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041CD7BC-8CE6-AE2A-6F4D-9C39450962E7}"/>
              </a:ext>
            </a:extLst>
          </p:cNvPr>
          <p:cNvSpPr>
            <a:spLocks noGrp="1"/>
          </p:cNvSpPr>
          <p:nvPr>
            <p:ph type="ctrTitle"/>
          </p:nvPr>
        </p:nvSpPr>
        <p:spPr>
          <a:xfrm>
            <a:off x="612649" y="594093"/>
            <a:ext cx="11336552" cy="512331"/>
          </a:xfrm>
        </p:spPr>
        <p:txBody>
          <a:bodyPr vert="horz" lIns="91440" tIns="45720" rIns="91440" bIns="45720" rtlCol="0" anchor="b">
            <a:normAutofit/>
          </a:bodyPr>
          <a:lstStyle/>
          <a:p>
            <a:pPr algn="l"/>
            <a:r>
              <a:rPr lang="it-IT" sz="2800" dirty="0"/>
              <a:t>Standard IPC in </a:t>
            </a:r>
            <a:r>
              <a:rPr lang="it-IT" sz="2800" dirty="0" err="1"/>
              <a:t>Heterogeneous</a:t>
            </a:r>
            <a:r>
              <a:rPr lang="it-IT" sz="2800" dirty="0"/>
              <a:t> AMP Systems</a:t>
            </a:r>
            <a:endParaRPr lang="en-US" sz="2800" b="1" kern="1200" dirty="0">
              <a:solidFill>
                <a:schemeClr val="tx1"/>
              </a:solidFill>
              <a:latin typeface="+mj-lt"/>
              <a:ea typeface="+mj-ea"/>
              <a:cs typeface="+mj-cs"/>
            </a:endParaRPr>
          </a:p>
        </p:txBody>
      </p:sp>
      <p:sp>
        <p:nvSpPr>
          <p:cNvPr id="3" name="Sottotitolo 2">
            <a:extLst>
              <a:ext uri="{FF2B5EF4-FFF2-40B4-BE49-F238E27FC236}">
                <a16:creationId xmlns:a16="http://schemas.microsoft.com/office/drawing/2014/main" id="{DD3F3C7A-3C7A-1684-6E27-C4CC7CD78DEB}"/>
              </a:ext>
            </a:extLst>
          </p:cNvPr>
          <p:cNvSpPr>
            <a:spLocks noGrp="1"/>
          </p:cNvSpPr>
          <p:nvPr>
            <p:ph type="subTitle" idx="1"/>
          </p:nvPr>
        </p:nvSpPr>
        <p:spPr>
          <a:xfrm>
            <a:off x="709419" y="1601288"/>
            <a:ext cx="10773155" cy="1010055"/>
          </a:xfrm>
        </p:spPr>
        <p:txBody>
          <a:bodyPr vert="horz" lIns="91440" tIns="45720" rIns="91440" bIns="45720" rtlCol="0">
            <a:normAutofit/>
          </a:bodyPr>
          <a:lstStyle/>
          <a:p>
            <a:r>
              <a:rPr lang="en-US" sz="1600" dirty="0"/>
              <a:t>To facilitate Inter-Processor Communication (IPC) among heterogeneous processors on </a:t>
            </a:r>
            <a:r>
              <a:rPr lang="en-US" sz="1600" b="1" dirty="0"/>
              <a:t>Asymmetric Multiprocessing (AMP)</a:t>
            </a:r>
            <a:r>
              <a:rPr lang="en-US" sz="1600" dirty="0"/>
              <a:t> architectures, the industry traditionally relies on the standard </a:t>
            </a:r>
            <a:r>
              <a:rPr lang="en-US" sz="1600" b="1" dirty="0" err="1"/>
              <a:t>OpenAMP</a:t>
            </a:r>
            <a:r>
              <a:rPr lang="en-US" sz="1600" b="1" dirty="0"/>
              <a:t> framework</a:t>
            </a:r>
            <a:r>
              <a:rPr lang="en-US" sz="1600" dirty="0"/>
              <a:t> using the </a:t>
            </a:r>
            <a:r>
              <a:rPr lang="en-US" sz="1600" b="1" dirty="0" err="1"/>
              <a:t>RPMsg</a:t>
            </a:r>
            <a:r>
              <a:rPr lang="en-US" sz="1600" b="1" dirty="0"/>
              <a:t> protocol</a:t>
            </a:r>
            <a:r>
              <a:rPr lang="en-US" sz="1600" dirty="0"/>
              <a:t> over shared memory.</a:t>
            </a:r>
          </a:p>
          <a:p>
            <a:pPr indent="-228600">
              <a:buFont typeface="Arial" panose="020B0604020202020204" pitchFamily="34" charset="0"/>
              <a:buChar char="•"/>
            </a:pPr>
            <a:endParaRPr lang="en-US" sz="1600" dirty="0"/>
          </a:p>
        </p:txBody>
      </p:sp>
      <p:pic>
        <p:nvPicPr>
          <p:cNvPr id="7" name="Elemento grafico 6">
            <a:extLst>
              <a:ext uri="{FF2B5EF4-FFF2-40B4-BE49-F238E27FC236}">
                <a16:creationId xmlns:a16="http://schemas.microsoft.com/office/drawing/2014/main" id="{60A865D7-FB09-4047-740A-58C4A6454E7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358917" y="2944010"/>
            <a:ext cx="5474157" cy="2076403"/>
          </a:xfrm>
          <a:prstGeom prst="rect">
            <a:avLst/>
          </a:prstGeom>
        </p:spPr>
      </p:pic>
      <p:sp>
        <p:nvSpPr>
          <p:cNvPr id="8" name="CasellaDiTesto 7">
            <a:extLst>
              <a:ext uri="{FF2B5EF4-FFF2-40B4-BE49-F238E27FC236}">
                <a16:creationId xmlns:a16="http://schemas.microsoft.com/office/drawing/2014/main" id="{D31AE385-E59D-2C79-E53A-B98BB13A47CD}"/>
              </a:ext>
            </a:extLst>
          </p:cNvPr>
          <p:cNvSpPr txBox="1"/>
          <p:nvPr/>
        </p:nvSpPr>
        <p:spPr>
          <a:xfrm>
            <a:off x="4536914" y="5014526"/>
            <a:ext cx="3118161" cy="338554"/>
          </a:xfrm>
          <a:prstGeom prst="rect">
            <a:avLst/>
          </a:prstGeom>
          <a:noFill/>
        </p:spPr>
        <p:txBody>
          <a:bodyPr wrap="none" rtlCol="0">
            <a:spAutoFit/>
          </a:bodyPr>
          <a:lstStyle/>
          <a:p>
            <a:r>
              <a:rPr lang="it-IT" sz="1600" i="1" dirty="0"/>
              <a:t>Classic </a:t>
            </a:r>
            <a:r>
              <a:rPr lang="it-IT" sz="1600" i="1" dirty="0" err="1"/>
              <a:t>OpenAMP</a:t>
            </a:r>
            <a:r>
              <a:rPr lang="it-IT" sz="1600" i="1" dirty="0"/>
              <a:t> Architecture</a:t>
            </a:r>
          </a:p>
        </p:txBody>
      </p:sp>
    </p:spTree>
    <p:extLst>
      <p:ext uri="{BB962C8B-B14F-4D97-AF65-F5344CB8AC3E}">
        <p14:creationId xmlns:p14="http://schemas.microsoft.com/office/powerpoint/2010/main" val="3530123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43867147-1C83-BF71-39B0-B590EE7F34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CA61EB03-1F33-717C-0FDE-A9342594EC47}"/>
              </a:ext>
            </a:extLst>
          </p:cNvPr>
          <p:cNvSpPr>
            <a:spLocks noGrp="1"/>
          </p:cNvSpPr>
          <p:nvPr>
            <p:ph type="ctrTitle"/>
          </p:nvPr>
        </p:nvSpPr>
        <p:spPr>
          <a:xfrm>
            <a:off x="615758" y="621064"/>
            <a:ext cx="11214649" cy="490424"/>
          </a:xfrm>
        </p:spPr>
        <p:txBody>
          <a:bodyPr vert="horz" lIns="91440" tIns="45720" rIns="91440" bIns="45720" rtlCol="0" anchor="t">
            <a:noAutofit/>
          </a:bodyPr>
          <a:lstStyle/>
          <a:p>
            <a:pPr algn="l"/>
            <a:r>
              <a:rPr lang="en-US" sz="2800" b="1" kern="1200" dirty="0">
                <a:solidFill>
                  <a:schemeClr val="tx1"/>
                </a:solidFill>
                <a:latin typeface="+mj-lt"/>
                <a:ea typeface="+mj-ea"/>
                <a:cs typeface="+mj-cs"/>
              </a:rPr>
              <a:t>Beyond </a:t>
            </a:r>
            <a:r>
              <a:rPr lang="en-US" sz="2800" b="1" kern="1200" dirty="0" err="1">
                <a:solidFill>
                  <a:schemeClr val="tx1"/>
                </a:solidFill>
                <a:latin typeface="+mj-lt"/>
                <a:ea typeface="+mj-ea"/>
                <a:cs typeface="+mj-cs"/>
              </a:rPr>
              <a:t>RPMsg</a:t>
            </a:r>
            <a:r>
              <a:rPr lang="en-US" sz="2800" b="1" kern="1200" dirty="0">
                <a:solidFill>
                  <a:schemeClr val="tx1"/>
                </a:solidFill>
                <a:latin typeface="+mj-lt"/>
                <a:ea typeface="+mj-ea"/>
                <a:cs typeface="+mj-cs"/>
              </a:rPr>
              <a:t>: </a:t>
            </a:r>
            <a:r>
              <a:rPr lang="en-US" sz="2800" b="1" kern="1200" dirty="0" err="1">
                <a:solidFill>
                  <a:schemeClr val="tx1"/>
                </a:solidFill>
                <a:latin typeface="+mj-lt"/>
                <a:ea typeface="+mj-ea"/>
                <a:cs typeface="+mj-cs"/>
              </a:rPr>
              <a:t>Hypervisorless</a:t>
            </a:r>
            <a:r>
              <a:rPr lang="en-US" sz="2800" b="1" kern="1200" dirty="0">
                <a:solidFill>
                  <a:schemeClr val="tx1"/>
                </a:solidFill>
                <a:latin typeface="+mj-lt"/>
                <a:ea typeface="+mj-ea"/>
                <a:cs typeface="+mj-cs"/>
              </a:rPr>
              <a:t> </a:t>
            </a:r>
            <a:r>
              <a:rPr lang="en-US" sz="2800" b="1" kern="1200" dirty="0" err="1">
                <a:solidFill>
                  <a:schemeClr val="tx1"/>
                </a:solidFill>
                <a:latin typeface="+mj-lt"/>
                <a:ea typeface="+mj-ea"/>
                <a:cs typeface="+mj-cs"/>
              </a:rPr>
              <a:t>VirtIO</a:t>
            </a:r>
            <a:r>
              <a:rPr lang="en-US" sz="2800" b="1" kern="1200" dirty="0">
                <a:solidFill>
                  <a:schemeClr val="tx1"/>
                </a:solidFill>
                <a:latin typeface="+mj-lt"/>
                <a:ea typeface="+mj-ea"/>
                <a:cs typeface="+mj-cs"/>
              </a:rPr>
              <a:t> in AMP Architectures</a:t>
            </a:r>
            <a:br>
              <a:rPr lang="en-US" sz="2800" b="1" kern="1200" dirty="0">
                <a:solidFill>
                  <a:schemeClr val="tx1"/>
                </a:solidFill>
                <a:latin typeface="+mj-lt"/>
                <a:ea typeface="+mj-ea"/>
                <a:cs typeface="+mj-cs"/>
              </a:rPr>
            </a:br>
            <a:endParaRPr lang="en-US" sz="2800" b="1" kern="1200" dirty="0">
              <a:solidFill>
                <a:schemeClr val="tx1"/>
              </a:solidFill>
              <a:latin typeface="+mj-lt"/>
              <a:ea typeface="+mj-ea"/>
              <a:cs typeface="+mj-cs"/>
            </a:endParaRPr>
          </a:p>
        </p:txBody>
      </p:sp>
      <p:pic>
        <p:nvPicPr>
          <p:cNvPr id="8" name="Elemento grafico 7">
            <a:extLst>
              <a:ext uri="{FF2B5EF4-FFF2-40B4-BE49-F238E27FC236}">
                <a16:creationId xmlns:a16="http://schemas.microsoft.com/office/drawing/2014/main" id="{C28B0CE9-08F3-831E-FD53-1EA54561BE3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040704" y="2418701"/>
            <a:ext cx="6110589" cy="3208059"/>
          </a:xfrm>
          <a:prstGeom prst="rect">
            <a:avLst/>
          </a:prstGeom>
        </p:spPr>
      </p:pic>
      <p:sp>
        <p:nvSpPr>
          <p:cNvPr id="10" name="CasellaDiTesto 9">
            <a:extLst>
              <a:ext uri="{FF2B5EF4-FFF2-40B4-BE49-F238E27FC236}">
                <a16:creationId xmlns:a16="http://schemas.microsoft.com/office/drawing/2014/main" id="{CFC929E5-BCE8-F2AC-DD34-613D1D908147}"/>
              </a:ext>
            </a:extLst>
          </p:cNvPr>
          <p:cNvSpPr txBox="1"/>
          <p:nvPr/>
        </p:nvSpPr>
        <p:spPr>
          <a:xfrm>
            <a:off x="4371808" y="5653919"/>
            <a:ext cx="3448380" cy="338554"/>
          </a:xfrm>
          <a:prstGeom prst="rect">
            <a:avLst/>
          </a:prstGeom>
          <a:noFill/>
        </p:spPr>
        <p:txBody>
          <a:bodyPr wrap="none" rtlCol="0">
            <a:spAutoFit/>
          </a:bodyPr>
          <a:lstStyle/>
          <a:p>
            <a:pPr algn="ctr"/>
            <a:r>
              <a:rPr lang="it-IT" sz="1600" i="1" dirty="0" err="1"/>
              <a:t>Hypervisorless</a:t>
            </a:r>
            <a:r>
              <a:rPr lang="it-IT" sz="1600" i="1" dirty="0"/>
              <a:t> </a:t>
            </a:r>
            <a:r>
              <a:rPr lang="it-IT" sz="1600" i="1" dirty="0" err="1"/>
              <a:t>VirtIO</a:t>
            </a:r>
            <a:r>
              <a:rPr lang="it-IT" sz="1600" i="1" dirty="0"/>
              <a:t> Architecture</a:t>
            </a:r>
          </a:p>
        </p:txBody>
      </p:sp>
      <p:sp>
        <p:nvSpPr>
          <p:cNvPr id="3" name="CasellaDiTesto 2">
            <a:extLst>
              <a:ext uri="{FF2B5EF4-FFF2-40B4-BE49-F238E27FC236}">
                <a16:creationId xmlns:a16="http://schemas.microsoft.com/office/drawing/2014/main" id="{06FE0DFA-03C1-D832-5B36-7C97C33780AB}"/>
              </a:ext>
            </a:extLst>
          </p:cNvPr>
          <p:cNvSpPr txBox="1"/>
          <p:nvPr/>
        </p:nvSpPr>
        <p:spPr>
          <a:xfrm>
            <a:off x="901603" y="1587704"/>
            <a:ext cx="10388793" cy="830997"/>
          </a:xfrm>
          <a:prstGeom prst="rect">
            <a:avLst/>
          </a:prstGeom>
          <a:noFill/>
        </p:spPr>
        <p:txBody>
          <a:bodyPr wrap="square" rtlCol="0">
            <a:spAutoFit/>
          </a:bodyPr>
          <a:lstStyle/>
          <a:p>
            <a:pPr algn="ctr"/>
            <a:r>
              <a:rPr lang="it-IT" sz="1600" dirty="0" err="1"/>
              <a:t>Bypassing</a:t>
            </a:r>
            <a:r>
              <a:rPr lang="it-IT" sz="1600" dirty="0"/>
              <a:t> </a:t>
            </a:r>
            <a:r>
              <a:rPr lang="it-IT" sz="1600" dirty="0" err="1"/>
              <a:t>heavyweight</a:t>
            </a:r>
            <a:r>
              <a:rPr lang="it-IT" sz="1600" dirty="0"/>
              <a:t> </a:t>
            </a:r>
            <a:r>
              <a:rPr lang="it-IT" sz="1600" dirty="0" err="1"/>
              <a:t>hypervisor</a:t>
            </a:r>
            <a:r>
              <a:rPr lang="it-IT" sz="1600" dirty="0"/>
              <a:t> VM-exits, the </a:t>
            </a:r>
            <a:r>
              <a:rPr lang="it-IT" sz="1600" b="1" dirty="0" err="1"/>
              <a:t>hypervisorless</a:t>
            </a:r>
            <a:r>
              <a:rPr lang="it-IT" sz="1600" b="1" dirty="0"/>
              <a:t> </a:t>
            </a:r>
            <a:r>
              <a:rPr lang="it-IT" sz="1600" b="1" dirty="0" err="1"/>
              <a:t>VirtIO</a:t>
            </a:r>
            <a:r>
              <a:rPr lang="it-IT" sz="1600" b="1" dirty="0"/>
              <a:t> </a:t>
            </a:r>
            <a:r>
              <a:rPr lang="it-IT" sz="1600" dirty="0" err="1"/>
              <a:t>approach</a:t>
            </a:r>
            <a:r>
              <a:rPr lang="it-IT" sz="1600" dirty="0"/>
              <a:t> leverages a </a:t>
            </a:r>
            <a:r>
              <a:rPr lang="it-IT" sz="1600" dirty="0" err="1"/>
              <a:t>lightweight</a:t>
            </a:r>
            <a:r>
              <a:rPr lang="it-IT" sz="1600" dirty="0"/>
              <a:t>, user-</a:t>
            </a:r>
            <a:r>
              <a:rPr lang="it-IT" sz="1600" dirty="0" err="1"/>
              <a:t>space</a:t>
            </a:r>
            <a:r>
              <a:rPr lang="it-IT" sz="1600" dirty="0"/>
              <a:t> </a:t>
            </a:r>
            <a:r>
              <a:rPr lang="it-IT" sz="1600" b="1" dirty="0" err="1"/>
              <a:t>Physical</a:t>
            </a:r>
            <a:r>
              <a:rPr lang="it-IT" sz="1600" b="1" dirty="0"/>
              <a:t> Machine Monitor </a:t>
            </a:r>
            <a:r>
              <a:rPr lang="it-IT" sz="1600" dirty="0"/>
              <a:t>(</a:t>
            </a:r>
            <a:r>
              <a:rPr lang="it-IT" sz="1600" b="1" dirty="0"/>
              <a:t>PMM</a:t>
            </a:r>
            <a:r>
              <a:rPr lang="it-IT" sz="1600" dirty="0"/>
              <a:t>) on the Linux master core to </a:t>
            </a:r>
            <a:r>
              <a:rPr lang="it-IT" sz="1600" dirty="0" err="1"/>
              <a:t>expose</a:t>
            </a:r>
            <a:r>
              <a:rPr lang="it-IT" sz="1600" dirty="0"/>
              <a:t> standard </a:t>
            </a:r>
            <a:r>
              <a:rPr lang="it-IT" sz="1600" b="1" dirty="0" err="1"/>
              <a:t>virtual</a:t>
            </a:r>
            <a:r>
              <a:rPr lang="it-IT" sz="1600" b="1" dirty="0"/>
              <a:t> devices </a:t>
            </a:r>
            <a:r>
              <a:rPr lang="it-IT" sz="1600" dirty="0" err="1"/>
              <a:t>directly</a:t>
            </a:r>
            <a:r>
              <a:rPr lang="it-IT" sz="1600" dirty="0"/>
              <a:t> to Zephyr RTOS.</a:t>
            </a:r>
          </a:p>
        </p:txBody>
      </p:sp>
    </p:spTree>
    <p:extLst>
      <p:ext uri="{BB962C8B-B14F-4D97-AF65-F5344CB8AC3E}">
        <p14:creationId xmlns:p14="http://schemas.microsoft.com/office/powerpoint/2010/main" val="9010463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3507AB9-FF76-DC00-353A-1C900FB030AA}"/>
              </a:ext>
            </a:extLst>
          </p:cNvPr>
          <p:cNvSpPr>
            <a:spLocks noGrp="1"/>
          </p:cNvSpPr>
          <p:nvPr>
            <p:ph type="ctrTitle"/>
          </p:nvPr>
        </p:nvSpPr>
        <p:spPr>
          <a:xfrm>
            <a:off x="625032" y="550532"/>
            <a:ext cx="7563567" cy="939549"/>
          </a:xfrm>
        </p:spPr>
        <p:txBody>
          <a:bodyPr>
            <a:normAutofit/>
          </a:bodyPr>
          <a:lstStyle/>
          <a:p>
            <a:r>
              <a:rPr lang="it-IT" sz="2800"/>
              <a:t>Reference Platform &amp; Hardware Emulation</a:t>
            </a:r>
            <a:br>
              <a:rPr lang="it-IT" sz="2800"/>
            </a:br>
            <a:endParaRPr lang="it-IT" sz="2800" dirty="0"/>
          </a:p>
        </p:txBody>
      </p:sp>
      <p:sp>
        <p:nvSpPr>
          <p:cNvPr id="3" name="Sottotitolo 2">
            <a:extLst>
              <a:ext uri="{FF2B5EF4-FFF2-40B4-BE49-F238E27FC236}">
                <a16:creationId xmlns:a16="http://schemas.microsoft.com/office/drawing/2014/main" id="{69F405B0-CD52-5242-3880-FAAE9522BD8D}"/>
              </a:ext>
            </a:extLst>
          </p:cNvPr>
          <p:cNvSpPr>
            <a:spLocks noGrp="1"/>
          </p:cNvSpPr>
          <p:nvPr>
            <p:ph type="subTitle" idx="1"/>
          </p:nvPr>
        </p:nvSpPr>
        <p:spPr>
          <a:xfrm>
            <a:off x="625032" y="1770093"/>
            <a:ext cx="4566728" cy="3980272"/>
          </a:xfrm>
        </p:spPr>
        <p:txBody>
          <a:bodyPr>
            <a:noAutofit/>
          </a:bodyPr>
          <a:lstStyle/>
          <a:p>
            <a:pPr algn="l"/>
            <a:r>
              <a:rPr lang="it-IT" sz="1600" dirty="0"/>
              <a:t>To </a:t>
            </a:r>
            <a:r>
              <a:rPr lang="it-IT" sz="1600" dirty="0" err="1"/>
              <a:t>ensure</a:t>
            </a:r>
            <a:r>
              <a:rPr lang="it-IT" sz="1600" dirty="0"/>
              <a:t> </a:t>
            </a:r>
            <a:r>
              <a:rPr lang="it-IT" sz="1600" dirty="0" err="1"/>
              <a:t>reproducibility</a:t>
            </a:r>
            <a:r>
              <a:rPr lang="it-IT" sz="1600" dirty="0"/>
              <a:t>, the </a:t>
            </a:r>
            <a:r>
              <a:rPr lang="it-IT" sz="1600" dirty="0" err="1"/>
              <a:t>Xilinx</a:t>
            </a:r>
            <a:r>
              <a:rPr lang="it-IT" sz="1600" dirty="0"/>
              <a:t> </a:t>
            </a:r>
            <a:r>
              <a:rPr lang="it-IT" sz="1600" dirty="0" err="1"/>
              <a:t>Zynq</a:t>
            </a:r>
            <a:r>
              <a:rPr lang="it-IT" sz="1600" dirty="0"/>
              <a:t> </a:t>
            </a:r>
            <a:r>
              <a:rPr lang="it-IT" sz="1600" dirty="0" err="1"/>
              <a:t>MPSoC</a:t>
            </a:r>
            <a:r>
              <a:rPr lang="it-IT" sz="1600" dirty="0"/>
              <a:t> (</a:t>
            </a:r>
            <a:r>
              <a:rPr lang="it-IT" sz="1600" b="1" dirty="0"/>
              <a:t>ZCU102</a:t>
            </a:r>
            <a:r>
              <a:rPr lang="it-IT" sz="1600" dirty="0"/>
              <a:t>) </a:t>
            </a:r>
            <a:r>
              <a:rPr lang="it-IT" sz="1600" dirty="0" err="1"/>
              <a:t>is</a:t>
            </a:r>
            <a:r>
              <a:rPr lang="it-IT" sz="1600" dirty="0"/>
              <a:t> </a:t>
            </a:r>
            <a:r>
              <a:rPr lang="it-IT" sz="1600" dirty="0" err="1"/>
              <a:t>emulated</a:t>
            </a:r>
            <a:r>
              <a:rPr lang="it-IT" sz="1600" dirty="0"/>
              <a:t> via </a:t>
            </a:r>
            <a:r>
              <a:rPr lang="it-IT" sz="1600" b="1" dirty="0"/>
              <a:t>QEMU</a:t>
            </a:r>
            <a:r>
              <a:rPr lang="it-IT" sz="1600" dirty="0"/>
              <a:t> </a:t>
            </a:r>
            <a:r>
              <a:rPr lang="it-IT" sz="1600" dirty="0" err="1"/>
              <a:t>within</a:t>
            </a:r>
            <a:r>
              <a:rPr lang="it-IT" sz="1600" dirty="0"/>
              <a:t> a </a:t>
            </a:r>
            <a:r>
              <a:rPr lang="it-IT" sz="1600" dirty="0" err="1"/>
              <a:t>containerized</a:t>
            </a:r>
            <a:r>
              <a:rPr lang="it-IT" sz="1600" dirty="0"/>
              <a:t> </a:t>
            </a:r>
            <a:r>
              <a:rPr lang="it-IT" sz="1600" b="1" dirty="0"/>
              <a:t>Docker</a:t>
            </a:r>
            <a:r>
              <a:rPr lang="it-IT" sz="1600" dirty="0"/>
              <a:t> </a:t>
            </a:r>
            <a:r>
              <a:rPr lang="it-IT" sz="1600" dirty="0" err="1"/>
              <a:t>environment</a:t>
            </a:r>
            <a:r>
              <a:rPr lang="it-IT" sz="1600" dirty="0"/>
              <a:t>. </a:t>
            </a:r>
          </a:p>
          <a:p>
            <a:pPr algn="l"/>
            <a:endParaRPr lang="it-IT" sz="1600" dirty="0"/>
          </a:p>
          <a:p>
            <a:pPr algn="l"/>
            <a:endParaRPr lang="it-IT" sz="1600" dirty="0"/>
          </a:p>
          <a:p>
            <a:pPr algn="l"/>
            <a:r>
              <a:rPr lang="it-IT" sz="1600" dirty="0"/>
              <a:t>On </a:t>
            </a:r>
            <a:r>
              <a:rPr lang="it-IT" sz="1600" dirty="0" err="1"/>
              <a:t>this</a:t>
            </a:r>
            <a:r>
              <a:rPr lang="it-IT" sz="1600" dirty="0"/>
              <a:t> </a:t>
            </a:r>
            <a:r>
              <a:rPr lang="it-IT" sz="1600" dirty="0" err="1"/>
              <a:t>platform</a:t>
            </a:r>
            <a:r>
              <a:rPr lang="it-IT" sz="1600" dirty="0"/>
              <a:t>, the </a:t>
            </a:r>
            <a:r>
              <a:rPr lang="it-IT" sz="1600" dirty="0" err="1"/>
              <a:t>OpenAMP</a:t>
            </a:r>
            <a:r>
              <a:rPr lang="it-IT" sz="1600" dirty="0"/>
              <a:t> </a:t>
            </a:r>
            <a:r>
              <a:rPr lang="it-IT" sz="1600" b="1" i="1" dirty="0"/>
              <a:t>demo4</a:t>
            </a:r>
            <a:r>
              <a:rPr lang="it-IT" sz="1600" dirty="0"/>
              <a:t> framework drives an </a:t>
            </a:r>
            <a:r>
              <a:rPr lang="it-IT" sz="1600" dirty="0" err="1"/>
              <a:t>unmodified</a:t>
            </a:r>
            <a:r>
              <a:rPr lang="it-IT" sz="1600" dirty="0"/>
              <a:t> Zephyr guest running standard </a:t>
            </a:r>
            <a:r>
              <a:rPr lang="it-IT" sz="1600" b="1" i="1" dirty="0" err="1"/>
              <a:t>virtio</a:t>
            </a:r>
            <a:r>
              <a:rPr lang="it-IT" sz="1600" b="1" i="1" dirty="0"/>
              <a:t>-net</a:t>
            </a:r>
            <a:r>
              <a:rPr lang="it-IT" sz="1600" dirty="0"/>
              <a:t> and </a:t>
            </a:r>
            <a:r>
              <a:rPr lang="it-IT" sz="1600" b="1" i="1" dirty="0" err="1"/>
              <a:t>virtio-rng</a:t>
            </a:r>
            <a:r>
              <a:rPr lang="it-IT" sz="1600" dirty="0"/>
              <a:t> devices over a </a:t>
            </a:r>
            <a:r>
              <a:rPr lang="it-IT" sz="1600" dirty="0" err="1"/>
              <a:t>static</a:t>
            </a:r>
            <a:r>
              <a:rPr lang="it-IT" sz="1600" dirty="0"/>
              <a:t> </a:t>
            </a:r>
            <a:r>
              <a:rPr lang="it-IT" sz="1600" dirty="0" err="1"/>
              <a:t>physical</a:t>
            </a:r>
            <a:r>
              <a:rPr lang="it-IT" sz="1600" dirty="0"/>
              <a:t> </a:t>
            </a:r>
            <a:r>
              <a:rPr lang="it-IT" sz="1600" dirty="0" err="1"/>
              <a:t>shared</a:t>
            </a:r>
            <a:r>
              <a:rPr lang="it-IT" sz="1600" dirty="0"/>
              <a:t> </a:t>
            </a:r>
            <a:r>
              <a:rPr lang="it-IT" sz="1600" dirty="0" err="1"/>
              <a:t>memory</a:t>
            </a:r>
            <a:r>
              <a:rPr lang="it-IT" sz="1600" dirty="0"/>
              <a:t> bridge.</a:t>
            </a:r>
          </a:p>
        </p:txBody>
      </p:sp>
      <p:pic>
        <p:nvPicPr>
          <p:cNvPr id="7" name="Immagine 6">
            <a:extLst>
              <a:ext uri="{FF2B5EF4-FFF2-40B4-BE49-F238E27FC236}">
                <a16:creationId xmlns:a16="http://schemas.microsoft.com/office/drawing/2014/main" id="{368ECE32-ACDE-4D12-E677-2FD5803C9D50}"/>
              </a:ext>
            </a:extLst>
          </p:cNvPr>
          <p:cNvPicPr>
            <a:picLocks noChangeAspect="1"/>
          </p:cNvPicPr>
          <p:nvPr/>
        </p:nvPicPr>
        <p:blipFill>
          <a:blip r:embed="rId2"/>
          <a:stretch>
            <a:fillRect/>
          </a:stretch>
        </p:blipFill>
        <p:spPr>
          <a:xfrm>
            <a:off x="5787463" y="1797140"/>
            <a:ext cx="5779505" cy="3263720"/>
          </a:xfrm>
          <a:prstGeom prst="rect">
            <a:avLst/>
          </a:prstGeom>
        </p:spPr>
      </p:pic>
      <p:sp>
        <p:nvSpPr>
          <p:cNvPr id="9" name="CasellaDiTesto 8">
            <a:extLst>
              <a:ext uri="{FF2B5EF4-FFF2-40B4-BE49-F238E27FC236}">
                <a16:creationId xmlns:a16="http://schemas.microsoft.com/office/drawing/2014/main" id="{CD1305F6-7671-1AAF-364F-6A40A117C05F}"/>
              </a:ext>
            </a:extLst>
          </p:cNvPr>
          <p:cNvSpPr txBox="1"/>
          <p:nvPr/>
        </p:nvSpPr>
        <p:spPr>
          <a:xfrm>
            <a:off x="7000242" y="5180536"/>
            <a:ext cx="3397312" cy="338554"/>
          </a:xfrm>
          <a:prstGeom prst="rect">
            <a:avLst/>
          </a:prstGeom>
          <a:noFill/>
        </p:spPr>
        <p:txBody>
          <a:bodyPr wrap="square">
            <a:spAutoFit/>
          </a:bodyPr>
          <a:lstStyle/>
          <a:p>
            <a:r>
              <a:rPr lang="it-IT" sz="1600" i="1"/>
              <a:t>Emulated Environment Overview</a:t>
            </a:r>
            <a:endParaRPr lang="it-IT" sz="1600" i="1" dirty="0"/>
          </a:p>
        </p:txBody>
      </p:sp>
    </p:spTree>
    <p:extLst>
      <p:ext uri="{BB962C8B-B14F-4D97-AF65-F5344CB8AC3E}">
        <p14:creationId xmlns:p14="http://schemas.microsoft.com/office/powerpoint/2010/main" val="36981073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E01AD652-194D-35CD-80B8-116FE1594113}"/>
              </a:ext>
            </a:extLst>
          </p:cNvPr>
          <p:cNvSpPr>
            <a:spLocks noGrp="1"/>
          </p:cNvSpPr>
          <p:nvPr>
            <p:ph type="ctrTitle"/>
          </p:nvPr>
        </p:nvSpPr>
        <p:spPr>
          <a:xfrm>
            <a:off x="624223" y="462617"/>
            <a:ext cx="10475899" cy="1006517"/>
          </a:xfrm>
        </p:spPr>
        <p:txBody>
          <a:bodyPr vert="horz" lIns="91440" tIns="45720" rIns="91440" bIns="45720" rtlCol="0" anchor="b">
            <a:noAutofit/>
          </a:bodyPr>
          <a:lstStyle/>
          <a:p>
            <a:pPr algn="l"/>
            <a:r>
              <a:rPr lang="en-US" sz="2800" b="1" kern="1200" dirty="0">
                <a:solidFill>
                  <a:schemeClr val="tx1"/>
                </a:solidFill>
                <a:latin typeface="+mj-lt"/>
                <a:ea typeface="+mj-ea"/>
                <a:cs typeface="+mj-cs"/>
              </a:rPr>
              <a:t>Data Path Optimization: </a:t>
            </a:r>
            <a:r>
              <a:rPr lang="en-US" sz="2800" b="1" kern="1200" dirty="0" err="1">
                <a:solidFill>
                  <a:schemeClr val="tx1"/>
                </a:solidFill>
                <a:latin typeface="+mj-lt"/>
                <a:ea typeface="+mj-ea"/>
                <a:cs typeface="+mj-cs"/>
              </a:rPr>
              <a:t>VirtQueues</a:t>
            </a:r>
            <a:r>
              <a:rPr lang="en-US" sz="2800" b="1" kern="1200" dirty="0">
                <a:solidFill>
                  <a:schemeClr val="tx1"/>
                </a:solidFill>
                <a:latin typeface="+mj-lt"/>
                <a:ea typeface="+mj-ea"/>
                <a:cs typeface="+mj-cs"/>
              </a:rPr>
              <a:t> &amp; Bounce Buffers</a:t>
            </a:r>
            <a:br>
              <a:rPr lang="en-US" sz="2800" b="1" kern="1200" dirty="0">
                <a:solidFill>
                  <a:schemeClr val="tx1"/>
                </a:solidFill>
                <a:latin typeface="+mj-lt"/>
                <a:ea typeface="+mj-ea"/>
                <a:cs typeface="+mj-cs"/>
              </a:rPr>
            </a:br>
            <a:endParaRPr lang="en-US" sz="2800" b="1" kern="1200" dirty="0">
              <a:solidFill>
                <a:schemeClr val="tx1"/>
              </a:solidFill>
              <a:latin typeface="+mj-lt"/>
              <a:ea typeface="+mj-ea"/>
              <a:cs typeface="+mj-cs"/>
            </a:endParaRPr>
          </a:p>
        </p:txBody>
      </p:sp>
      <p:sp>
        <p:nvSpPr>
          <p:cNvPr id="3" name="Sottotitolo 2">
            <a:extLst>
              <a:ext uri="{FF2B5EF4-FFF2-40B4-BE49-F238E27FC236}">
                <a16:creationId xmlns:a16="http://schemas.microsoft.com/office/drawing/2014/main" id="{F6EB9CDB-1381-CA03-B839-75AB19D01995}"/>
              </a:ext>
            </a:extLst>
          </p:cNvPr>
          <p:cNvSpPr>
            <a:spLocks noGrp="1"/>
          </p:cNvSpPr>
          <p:nvPr>
            <p:ph type="subTitle" idx="1"/>
          </p:nvPr>
        </p:nvSpPr>
        <p:spPr>
          <a:xfrm>
            <a:off x="624223" y="1469134"/>
            <a:ext cx="4621553" cy="4997360"/>
          </a:xfrm>
        </p:spPr>
        <p:txBody>
          <a:bodyPr vert="horz" lIns="91440" tIns="45720" rIns="91440" bIns="45720" rtlCol="0">
            <a:noAutofit/>
          </a:bodyPr>
          <a:lstStyle/>
          <a:p>
            <a:pPr algn="l"/>
            <a:r>
              <a:rPr lang="it-IT" sz="1600" dirty="0"/>
              <a:t>To </a:t>
            </a:r>
            <a:r>
              <a:rPr lang="it-IT" sz="1600" dirty="0" err="1"/>
              <a:t>enable</a:t>
            </a:r>
            <a:r>
              <a:rPr lang="it-IT" sz="1600" dirty="0"/>
              <a:t> </a:t>
            </a:r>
            <a:r>
              <a:rPr lang="it-IT" sz="1600" dirty="0" err="1"/>
              <a:t>hypervisorless</a:t>
            </a:r>
            <a:r>
              <a:rPr lang="it-IT" sz="1600" dirty="0"/>
              <a:t> </a:t>
            </a:r>
            <a:r>
              <a:rPr lang="it-IT" sz="1600" dirty="0" err="1"/>
              <a:t>communication</a:t>
            </a:r>
            <a:r>
              <a:rPr lang="it-IT" sz="1600" dirty="0"/>
              <a:t>, the </a:t>
            </a:r>
            <a:r>
              <a:rPr lang="it-IT" sz="1600" dirty="0" err="1"/>
              <a:t>architecture</a:t>
            </a:r>
            <a:r>
              <a:rPr lang="it-IT" sz="1600" dirty="0"/>
              <a:t> </a:t>
            </a:r>
            <a:r>
              <a:rPr lang="it-IT" sz="1600" dirty="0" err="1"/>
              <a:t>maps</a:t>
            </a:r>
            <a:r>
              <a:rPr lang="it-IT" sz="1600" dirty="0"/>
              <a:t> </a:t>
            </a:r>
            <a:r>
              <a:rPr lang="it-IT" sz="1600" b="1" dirty="0" err="1"/>
              <a:t>VirtIO</a:t>
            </a:r>
            <a:r>
              <a:rPr lang="it-IT" sz="1600" b="1" dirty="0"/>
              <a:t>-MMIO</a:t>
            </a:r>
            <a:r>
              <a:rPr lang="it-IT" sz="1600" dirty="0"/>
              <a:t> over </a:t>
            </a:r>
            <a:r>
              <a:rPr lang="it-IT" sz="1600" dirty="0" err="1"/>
              <a:t>static</a:t>
            </a:r>
            <a:r>
              <a:rPr lang="it-IT" sz="1600" dirty="0"/>
              <a:t> </a:t>
            </a:r>
            <a:r>
              <a:rPr lang="it-IT" sz="1600" dirty="0" err="1"/>
              <a:t>shared</a:t>
            </a:r>
            <a:r>
              <a:rPr lang="it-IT" sz="1600" dirty="0"/>
              <a:t> </a:t>
            </a:r>
            <a:r>
              <a:rPr lang="it-IT" sz="1600" dirty="0" err="1"/>
              <a:t>physical</a:t>
            </a:r>
            <a:r>
              <a:rPr lang="it-IT" sz="1600" dirty="0"/>
              <a:t> </a:t>
            </a:r>
            <a:r>
              <a:rPr lang="it-IT" sz="1600" dirty="0" err="1"/>
              <a:t>memory</a:t>
            </a:r>
            <a:r>
              <a:rPr lang="it-IT" sz="1600" dirty="0"/>
              <a:t> with </a:t>
            </a:r>
            <a:r>
              <a:rPr lang="it-IT" sz="1600" dirty="0" err="1"/>
              <a:t>symmetric</a:t>
            </a:r>
            <a:r>
              <a:rPr lang="it-IT" sz="1600" dirty="0"/>
              <a:t> Linux PMM and Zephyr RTOS access. </a:t>
            </a:r>
          </a:p>
          <a:p>
            <a:pPr algn="l"/>
            <a:endParaRPr lang="it-IT" sz="1600" dirty="0"/>
          </a:p>
          <a:p>
            <a:pPr algn="l"/>
            <a:endParaRPr lang="it-IT" sz="1600" dirty="0"/>
          </a:p>
          <a:p>
            <a:pPr algn="l"/>
            <a:r>
              <a:rPr lang="it-IT" sz="1600" dirty="0"/>
              <a:t>While the control </a:t>
            </a:r>
            <a:r>
              <a:rPr lang="it-IT" sz="1600" dirty="0" err="1"/>
              <a:t>path</a:t>
            </a:r>
            <a:r>
              <a:rPr lang="it-IT" sz="1600" dirty="0"/>
              <a:t> </a:t>
            </a:r>
            <a:r>
              <a:rPr lang="it-IT" sz="1600" dirty="0" err="1"/>
              <a:t>retains</a:t>
            </a:r>
            <a:r>
              <a:rPr lang="it-IT" sz="1600" dirty="0"/>
              <a:t> the standard </a:t>
            </a:r>
            <a:r>
              <a:rPr lang="it-IT" sz="1600" b="1" dirty="0" err="1"/>
              <a:t>three-VRing</a:t>
            </a:r>
            <a:r>
              <a:rPr lang="it-IT" sz="1600" dirty="0"/>
              <a:t> </a:t>
            </a:r>
            <a:r>
              <a:rPr lang="it-IT" sz="1600" dirty="0" err="1"/>
              <a:t>structure</a:t>
            </a:r>
            <a:r>
              <a:rPr lang="it-IT" sz="1600" dirty="0"/>
              <a:t>, the data </a:t>
            </a:r>
            <a:r>
              <a:rPr lang="it-IT" sz="1600" dirty="0" err="1"/>
              <a:t>path</a:t>
            </a:r>
            <a:r>
              <a:rPr lang="it-IT" sz="1600" dirty="0"/>
              <a:t> </a:t>
            </a:r>
            <a:r>
              <a:rPr lang="it-IT" sz="1600" dirty="0" err="1"/>
              <a:t>completely</a:t>
            </a:r>
            <a:r>
              <a:rPr lang="it-IT" sz="1600" dirty="0"/>
              <a:t> </a:t>
            </a:r>
            <a:r>
              <a:rPr lang="it-IT" sz="1600" dirty="0" err="1"/>
              <a:t>bypasses</a:t>
            </a:r>
            <a:r>
              <a:rPr lang="it-IT" sz="1600" dirty="0"/>
              <a:t> software </a:t>
            </a:r>
            <a:r>
              <a:rPr lang="it-IT" sz="1600" dirty="0" err="1"/>
              <a:t>translation</a:t>
            </a:r>
            <a:r>
              <a:rPr lang="it-IT" sz="1600" dirty="0"/>
              <a:t> </a:t>
            </a:r>
            <a:r>
              <a:rPr lang="it-IT" sz="1600" dirty="0" err="1"/>
              <a:t>traps</a:t>
            </a:r>
            <a:r>
              <a:rPr lang="it-IT" sz="1600" dirty="0"/>
              <a:t> by mapping </a:t>
            </a:r>
            <a:r>
              <a:rPr lang="it-IT" sz="1600" dirty="0" err="1"/>
              <a:t>Descriptor</a:t>
            </a:r>
            <a:r>
              <a:rPr lang="it-IT" sz="1600" dirty="0"/>
              <a:t> Ring pointers </a:t>
            </a:r>
            <a:r>
              <a:rPr lang="it-IT" sz="1600" dirty="0" err="1"/>
              <a:t>directly</a:t>
            </a:r>
            <a:r>
              <a:rPr lang="it-IT" sz="1600" dirty="0"/>
              <a:t> to </a:t>
            </a:r>
            <a:r>
              <a:rPr lang="it-IT" sz="1600" dirty="0" err="1"/>
              <a:t>pre-allocated</a:t>
            </a:r>
            <a:r>
              <a:rPr lang="it-IT" sz="1600" dirty="0"/>
              <a:t>, </a:t>
            </a:r>
            <a:r>
              <a:rPr lang="it-IT" sz="1600" dirty="0" err="1"/>
              <a:t>physically</a:t>
            </a:r>
            <a:r>
              <a:rPr lang="it-IT" sz="1600" dirty="0"/>
              <a:t> </a:t>
            </a:r>
            <a:r>
              <a:rPr lang="it-IT" sz="1600" dirty="0" err="1"/>
              <a:t>contiguous</a:t>
            </a:r>
            <a:r>
              <a:rPr lang="it-IT" sz="1600" dirty="0"/>
              <a:t> </a:t>
            </a:r>
            <a:r>
              <a:rPr lang="it-IT" sz="1600" b="1" dirty="0" err="1"/>
              <a:t>bounce</a:t>
            </a:r>
            <a:r>
              <a:rPr lang="it-IT" sz="1600" b="1" dirty="0"/>
              <a:t> buffers</a:t>
            </a:r>
            <a:r>
              <a:rPr lang="it-IT" sz="1600" dirty="0"/>
              <a:t>.</a:t>
            </a:r>
          </a:p>
        </p:txBody>
      </p:sp>
      <p:pic>
        <p:nvPicPr>
          <p:cNvPr id="6" name="Elemento grafico 5">
            <a:extLst>
              <a:ext uri="{FF2B5EF4-FFF2-40B4-BE49-F238E27FC236}">
                <a16:creationId xmlns:a16="http://schemas.microsoft.com/office/drawing/2014/main" id="{0ADA104E-7BDA-AEA4-4A38-AB4C3963765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498722" y="1931751"/>
            <a:ext cx="6362186" cy="3340147"/>
          </a:xfrm>
          <a:prstGeom prst="rect">
            <a:avLst/>
          </a:prstGeom>
        </p:spPr>
      </p:pic>
      <p:sp>
        <p:nvSpPr>
          <p:cNvPr id="7" name="CasellaDiTesto 6">
            <a:extLst>
              <a:ext uri="{FF2B5EF4-FFF2-40B4-BE49-F238E27FC236}">
                <a16:creationId xmlns:a16="http://schemas.microsoft.com/office/drawing/2014/main" id="{22CCDCD4-D32B-983E-E8CB-7E5AF070EB45}"/>
              </a:ext>
            </a:extLst>
          </p:cNvPr>
          <p:cNvSpPr txBox="1"/>
          <p:nvPr/>
        </p:nvSpPr>
        <p:spPr>
          <a:xfrm>
            <a:off x="7560890" y="5066409"/>
            <a:ext cx="2279791" cy="338554"/>
          </a:xfrm>
          <a:prstGeom prst="rect">
            <a:avLst/>
          </a:prstGeom>
          <a:noFill/>
        </p:spPr>
        <p:txBody>
          <a:bodyPr wrap="none" rtlCol="0">
            <a:spAutoFit/>
          </a:bodyPr>
          <a:lstStyle/>
          <a:p>
            <a:r>
              <a:rPr lang="it-IT" sz="1600" i="1" dirty="0" err="1"/>
              <a:t>Shared</a:t>
            </a:r>
            <a:r>
              <a:rPr lang="it-IT" sz="1600" i="1" dirty="0"/>
              <a:t> </a:t>
            </a:r>
            <a:r>
              <a:rPr lang="it-IT" sz="1600" i="1"/>
              <a:t>Memory Zoom</a:t>
            </a:r>
            <a:endParaRPr lang="it-IT" sz="1600" i="1" dirty="0"/>
          </a:p>
        </p:txBody>
      </p:sp>
    </p:spTree>
    <p:extLst>
      <p:ext uri="{BB962C8B-B14F-4D97-AF65-F5344CB8AC3E}">
        <p14:creationId xmlns:p14="http://schemas.microsoft.com/office/powerpoint/2010/main" val="9571050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41D7465-FCD9-ECE4-60EF-DD32582139F1}"/>
              </a:ext>
            </a:extLst>
          </p:cNvPr>
          <p:cNvSpPr>
            <a:spLocks noGrp="1"/>
          </p:cNvSpPr>
          <p:nvPr>
            <p:ph type="ctrTitle"/>
          </p:nvPr>
        </p:nvSpPr>
        <p:spPr>
          <a:xfrm>
            <a:off x="616688" y="648587"/>
            <a:ext cx="6589870" cy="754912"/>
          </a:xfrm>
        </p:spPr>
        <p:txBody>
          <a:bodyPr>
            <a:normAutofit fontScale="90000"/>
          </a:bodyPr>
          <a:lstStyle/>
          <a:p>
            <a:pPr algn="l"/>
            <a:r>
              <a:rPr lang="it-IT" sz="3100"/>
              <a:t>From VM-Exits to </a:t>
            </a:r>
            <a:r>
              <a:rPr lang="it-IT" sz="3100" dirty="0"/>
              <a:t>Hardware </a:t>
            </a:r>
            <a:r>
              <a:rPr lang="it-IT" sz="3100" dirty="0" err="1"/>
              <a:t>IPIs</a:t>
            </a:r>
            <a:br>
              <a:rPr lang="it-IT" sz="2800" dirty="0"/>
            </a:br>
            <a:endParaRPr lang="it-IT" sz="2800" dirty="0"/>
          </a:p>
        </p:txBody>
      </p:sp>
      <p:sp>
        <p:nvSpPr>
          <p:cNvPr id="4" name="CasellaDiTesto 3">
            <a:extLst>
              <a:ext uri="{FF2B5EF4-FFF2-40B4-BE49-F238E27FC236}">
                <a16:creationId xmlns:a16="http://schemas.microsoft.com/office/drawing/2014/main" id="{CCB509C2-D1DA-F6A3-9CF2-747DCECF95C6}"/>
              </a:ext>
            </a:extLst>
          </p:cNvPr>
          <p:cNvSpPr txBox="1"/>
          <p:nvPr/>
        </p:nvSpPr>
        <p:spPr>
          <a:xfrm>
            <a:off x="770223" y="1403499"/>
            <a:ext cx="10651553" cy="1077218"/>
          </a:xfrm>
          <a:prstGeom prst="rect">
            <a:avLst/>
          </a:prstGeom>
          <a:noFill/>
        </p:spPr>
        <p:txBody>
          <a:bodyPr wrap="square" rtlCol="0">
            <a:spAutoFit/>
          </a:bodyPr>
          <a:lstStyle/>
          <a:p>
            <a:pPr algn="ctr"/>
            <a:r>
              <a:rPr lang="it-IT" sz="1600" dirty="0" err="1"/>
              <a:t>Since</a:t>
            </a:r>
            <a:r>
              <a:rPr lang="it-IT" sz="1600" dirty="0"/>
              <a:t> </a:t>
            </a:r>
            <a:r>
              <a:rPr lang="it-IT" sz="1600" dirty="0" err="1"/>
              <a:t>both</a:t>
            </a:r>
            <a:r>
              <a:rPr lang="it-IT" sz="1600" dirty="0"/>
              <a:t> </a:t>
            </a:r>
            <a:r>
              <a:rPr lang="it-IT" sz="1600" dirty="0" err="1"/>
              <a:t>operating</a:t>
            </a:r>
            <a:r>
              <a:rPr lang="it-IT" sz="1600" dirty="0"/>
              <a:t> systems </a:t>
            </a:r>
            <a:r>
              <a:rPr lang="it-IT" sz="1600" dirty="0" err="1"/>
              <a:t>execute</a:t>
            </a:r>
            <a:r>
              <a:rPr lang="it-IT" sz="1600" dirty="0"/>
              <a:t> </a:t>
            </a:r>
            <a:r>
              <a:rPr lang="it-IT" sz="1600" dirty="0" err="1"/>
              <a:t>natively</a:t>
            </a:r>
            <a:r>
              <a:rPr lang="it-IT" sz="1600" dirty="0"/>
              <a:t> on </a:t>
            </a:r>
            <a:r>
              <a:rPr lang="it-IT" sz="1600" b="1" dirty="0"/>
              <a:t>bare-metal</a:t>
            </a:r>
            <a:r>
              <a:rPr lang="it-IT" sz="1600" dirty="0"/>
              <a:t>, </a:t>
            </a:r>
            <a:r>
              <a:rPr lang="it-IT" sz="1600" dirty="0" err="1"/>
              <a:t>traditional</a:t>
            </a:r>
            <a:r>
              <a:rPr lang="it-IT" sz="1600" dirty="0"/>
              <a:t> </a:t>
            </a:r>
            <a:r>
              <a:rPr lang="it-IT" sz="1600" dirty="0" err="1"/>
              <a:t>hypervisor-mediated</a:t>
            </a:r>
            <a:r>
              <a:rPr lang="it-IT" sz="1600" dirty="0"/>
              <a:t> </a:t>
            </a:r>
            <a:r>
              <a:rPr lang="it-IT" sz="1600" b="1" dirty="0" err="1"/>
              <a:t>VirtIO</a:t>
            </a:r>
            <a:r>
              <a:rPr lang="it-IT" sz="1600" b="1" dirty="0"/>
              <a:t> </a:t>
            </a:r>
            <a:r>
              <a:rPr lang="it-IT" sz="1600" b="1" dirty="0" err="1"/>
              <a:t>doorbells</a:t>
            </a:r>
            <a:r>
              <a:rPr lang="it-IT" sz="1600" b="1" dirty="0"/>
              <a:t> </a:t>
            </a:r>
            <a:r>
              <a:rPr lang="it-IT" sz="1600" dirty="0"/>
              <a:t>(VM-exits) are </a:t>
            </a:r>
            <a:r>
              <a:rPr lang="it-IT" sz="1600" b="1" dirty="0" err="1"/>
              <a:t>physically</a:t>
            </a:r>
            <a:r>
              <a:rPr lang="it-IT" sz="1600" b="1" dirty="0"/>
              <a:t> </a:t>
            </a:r>
            <a:r>
              <a:rPr lang="it-IT" sz="1600" b="1" dirty="0" err="1"/>
              <a:t>impossible</a:t>
            </a:r>
            <a:r>
              <a:rPr lang="it-IT" sz="1600" dirty="0"/>
              <a:t>. To bridge </a:t>
            </a:r>
            <a:r>
              <a:rPr lang="it-IT" sz="1600" dirty="0" err="1"/>
              <a:t>this</a:t>
            </a:r>
            <a:r>
              <a:rPr lang="it-IT" sz="1600" dirty="0"/>
              <a:t> gap, the </a:t>
            </a:r>
            <a:r>
              <a:rPr lang="it-IT" sz="1600" dirty="0" err="1"/>
              <a:t>architecture</a:t>
            </a:r>
            <a:r>
              <a:rPr lang="it-IT" sz="1600" dirty="0"/>
              <a:t> </a:t>
            </a:r>
            <a:r>
              <a:rPr lang="it-IT" sz="1600" dirty="0" err="1"/>
              <a:t>maps</a:t>
            </a:r>
            <a:r>
              <a:rPr lang="it-IT" sz="1600" dirty="0"/>
              <a:t> </a:t>
            </a:r>
            <a:r>
              <a:rPr lang="it-IT" sz="1600" dirty="0" err="1"/>
              <a:t>signaling</a:t>
            </a:r>
            <a:r>
              <a:rPr lang="it-IT" sz="1600" dirty="0"/>
              <a:t> </a:t>
            </a:r>
            <a:r>
              <a:rPr lang="it-IT" sz="1600" dirty="0" err="1"/>
              <a:t>notifications</a:t>
            </a:r>
            <a:r>
              <a:rPr lang="it-IT" sz="1600" dirty="0"/>
              <a:t> to </a:t>
            </a:r>
            <a:r>
              <a:rPr lang="it-IT" sz="1600" dirty="0" err="1"/>
              <a:t>direct</a:t>
            </a:r>
            <a:r>
              <a:rPr lang="it-IT" sz="1600" dirty="0"/>
              <a:t>, </a:t>
            </a:r>
            <a:r>
              <a:rPr lang="it-IT" sz="1600" dirty="0" err="1"/>
              <a:t>physical</a:t>
            </a:r>
            <a:r>
              <a:rPr lang="it-IT" sz="1600" dirty="0"/>
              <a:t> </a:t>
            </a:r>
            <a:r>
              <a:rPr lang="it-IT" sz="1600" b="1" dirty="0"/>
              <a:t>Inter-Processor Interrupts </a:t>
            </a:r>
            <a:r>
              <a:rPr lang="it-IT" sz="1600" dirty="0"/>
              <a:t>(</a:t>
            </a:r>
            <a:r>
              <a:rPr lang="it-IT" sz="1600" b="1" dirty="0" err="1"/>
              <a:t>IPIs</a:t>
            </a:r>
            <a:r>
              <a:rPr lang="it-IT" sz="1600" dirty="0"/>
              <a:t>), </a:t>
            </a:r>
            <a:r>
              <a:rPr lang="it-IT" sz="1600" dirty="0" err="1"/>
              <a:t>completely</a:t>
            </a:r>
            <a:r>
              <a:rPr lang="it-IT" sz="1600" dirty="0"/>
              <a:t> </a:t>
            </a:r>
            <a:r>
              <a:rPr lang="it-IT" sz="1600" dirty="0" err="1"/>
              <a:t>bypassing</a:t>
            </a:r>
            <a:r>
              <a:rPr lang="it-IT" sz="1600" dirty="0"/>
              <a:t> software </a:t>
            </a:r>
            <a:r>
              <a:rPr lang="it-IT" sz="1600" dirty="0" err="1"/>
              <a:t>traps</a:t>
            </a:r>
            <a:r>
              <a:rPr lang="it-IT" sz="1600" dirty="0"/>
              <a:t>.</a:t>
            </a:r>
          </a:p>
          <a:p>
            <a:pPr algn="ctr"/>
            <a:endParaRPr lang="it-IT" sz="1600" dirty="0"/>
          </a:p>
        </p:txBody>
      </p:sp>
      <p:pic>
        <p:nvPicPr>
          <p:cNvPr id="6" name="Elemento grafico 5">
            <a:extLst>
              <a:ext uri="{FF2B5EF4-FFF2-40B4-BE49-F238E27FC236}">
                <a16:creationId xmlns:a16="http://schemas.microsoft.com/office/drawing/2014/main" id="{1E4E469C-FF50-7578-CED5-64AC780608B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070895" y="2480717"/>
            <a:ext cx="6417766" cy="3208883"/>
          </a:xfrm>
          <a:prstGeom prst="rect">
            <a:avLst/>
          </a:prstGeom>
        </p:spPr>
      </p:pic>
      <p:sp>
        <p:nvSpPr>
          <p:cNvPr id="8" name="CasellaDiTesto 7">
            <a:extLst>
              <a:ext uri="{FF2B5EF4-FFF2-40B4-BE49-F238E27FC236}">
                <a16:creationId xmlns:a16="http://schemas.microsoft.com/office/drawing/2014/main" id="{D147AE14-C3FE-3B0F-EC21-19D6B0915E38}"/>
              </a:ext>
            </a:extLst>
          </p:cNvPr>
          <p:cNvSpPr txBox="1"/>
          <p:nvPr/>
        </p:nvSpPr>
        <p:spPr>
          <a:xfrm>
            <a:off x="4814473" y="5870859"/>
            <a:ext cx="2930610" cy="338554"/>
          </a:xfrm>
          <a:prstGeom prst="rect">
            <a:avLst/>
          </a:prstGeom>
          <a:noFill/>
        </p:spPr>
        <p:txBody>
          <a:bodyPr wrap="none" rtlCol="0">
            <a:spAutoFit/>
          </a:bodyPr>
          <a:lstStyle/>
          <a:p>
            <a:r>
              <a:rPr lang="it-IT" sz="1600" i="1" dirty="0"/>
              <a:t>VM-Exits and </a:t>
            </a:r>
            <a:r>
              <a:rPr lang="it-IT" sz="1600" i="1" dirty="0" err="1"/>
              <a:t>IPIs</a:t>
            </a:r>
            <a:r>
              <a:rPr lang="it-IT" sz="1600" i="1" dirty="0"/>
              <a:t> </a:t>
            </a:r>
            <a:r>
              <a:rPr lang="it-IT" sz="1600" i="1" dirty="0" err="1"/>
              <a:t>Paradigms</a:t>
            </a:r>
            <a:endParaRPr lang="it-IT" sz="1600" i="1" dirty="0"/>
          </a:p>
        </p:txBody>
      </p:sp>
    </p:spTree>
    <p:extLst>
      <p:ext uri="{BB962C8B-B14F-4D97-AF65-F5344CB8AC3E}">
        <p14:creationId xmlns:p14="http://schemas.microsoft.com/office/powerpoint/2010/main" val="30459016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EDE1AF-3215-A165-3C2B-669595413E35}"/>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02533DF6-8574-7EBD-2178-B7F30A54F93A}"/>
              </a:ext>
            </a:extLst>
          </p:cNvPr>
          <p:cNvSpPr>
            <a:spLocks noGrp="1"/>
          </p:cNvSpPr>
          <p:nvPr>
            <p:ph type="ctrTitle"/>
          </p:nvPr>
        </p:nvSpPr>
        <p:spPr>
          <a:xfrm>
            <a:off x="515089" y="645741"/>
            <a:ext cx="3132352" cy="478939"/>
          </a:xfrm>
        </p:spPr>
        <p:txBody>
          <a:bodyPr>
            <a:normAutofit/>
          </a:bodyPr>
          <a:lstStyle/>
          <a:p>
            <a:r>
              <a:rPr lang="it-IT" sz="2800" dirty="0" err="1"/>
              <a:t>Execution</a:t>
            </a:r>
            <a:r>
              <a:rPr lang="it-IT" sz="2800" dirty="0"/>
              <a:t> Flow</a:t>
            </a:r>
          </a:p>
        </p:txBody>
      </p:sp>
      <p:pic>
        <p:nvPicPr>
          <p:cNvPr id="4" name="Immagine 3">
            <a:extLst>
              <a:ext uri="{FF2B5EF4-FFF2-40B4-BE49-F238E27FC236}">
                <a16:creationId xmlns:a16="http://schemas.microsoft.com/office/drawing/2014/main" id="{A39101D7-F97C-5E2F-A493-4CD9C501E3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53811" y="1503168"/>
            <a:ext cx="5884377" cy="4909887"/>
          </a:xfrm>
          <a:prstGeom prst="rect">
            <a:avLst/>
          </a:prstGeom>
        </p:spPr>
      </p:pic>
    </p:spTree>
    <p:extLst>
      <p:ext uri="{BB962C8B-B14F-4D97-AF65-F5344CB8AC3E}">
        <p14:creationId xmlns:p14="http://schemas.microsoft.com/office/powerpoint/2010/main" val="30236977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7A018-4452-6843-3BB3-332AA19E82E8}"/>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48B7FC3E-10A9-5639-433B-EDA0EB6A7569}"/>
              </a:ext>
            </a:extLst>
          </p:cNvPr>
          <p:cNvSpPr>
            <a:spLocks noGrp="1"/>
          </p:cNvSpPr>
          <p:nvPr>
            <p:ph type="ctrTitle"/>
          </p:nvPr>
        </p:nvSpPr>
        <p:spPr>
          <a:xfrm>
            <a:off x="660400" y="607947"/>
            <a:ext cx="8990594" cy="509653"/>
          </a:xfrm>
        </p:spPr>
        <p:txBody>
          <a:bodyPr>
            <a:noAutofit/>
          </a:bodyPr>
          <a:lstStyle/>
          <a:p>
            <a:pPr algn="l"/>
            <a:r>
              <a:rPr lang="it-IT" sz="2800"/>
              <a:t>Mapping Theory to Code</a:t>
            </a:r>
            <a:endParaRPr lang="it-IT" sz="2800" dirty="0"/>
          </a:p>
        </p:txBody>
      </p:sp>
      <p:pic>
        <p:nvPicPr>
          <p:cNvPr id="3" name="Immagine 2">
            <a:extLst>
              <a:ext uri="{FF2B5EF4-FFF2-40B4-BE49-F238E27FC236}">
                <a16:creationId xmlns:a16="http://schemas.microsoft.com/office/drawing/2014/main" id="{C6372173-6C35-2EB1-DB42-23D00EF2E1EA}"/>
              </a:ext>
            </a:extLst>
          </p:cNvPr>
          <p:cNvPicPr>
            <a:picLocks noChangeAspect="1"/>
          </p:cNvPicPr>
          <p:nvPr/>
        </p:nvPicPr>
        <p:blipFill>
          <a:blip r:embed="rId2"/>
          <a:srcRect r="52799"/>
          <a:stretch>
            <a:fillRect/>
          </a:stretch>
        </p:blipFill>
        <p:spPr>
          <a:xfrm>
            <a:off x="6917783" y="1414073"/>
            <a:ext cx="4485074" cy="2014927"/>
          </a:xfrm>
          <a:prstGeom prst="rect">
            <a:avLst/>
          </a:prstGeom>
        </p:spPr>
      </p:pic>
      <p:pic>
        <p:nvPicPr>
          <p:cNvPr id="4" name="Immagine 3">
            <a:extLst>
              <a:ext uri="{FF2B5EF4-FFF2-40B4-BE49-F238E27FC236}">
                <a16:creationId xmlns:a16="http://schemas.microsoft.com/office/drawing/2014/main" id="{A7615715-A7C5-A107-06A9-286578D81C80}"/>
              </a:ext>
            </a:extLst>
          </p:cNvPr>
          <p:cNvPicPr>
            <a:picLocks noChangeAspect="1"/>
          </p:cNvPicPr>
          <p:nvPr/>
        </p:nvPicPr>
        <p:blipFill>
          <a:blip r:embed="rId3"/>
          <a:srcRect t="182"/>
          <a:stretch>
            <a:fillRect/>
          </a:stretch>
        </p:blipFill>
        <p:spPr>
          <a:xfrm>
            <a:off x="660399" y="1414073"/>
            <a:ext cx="4917944" cy="4397441"/>
          </a:xfrm>
          <a:prstGeom prst="rect">
            <a:avLst/>
          </a:prstGeom>
        </p:spPr>
      </p:pic>
      <p:sp>
        <p:nvSpPr>
          <p:cNvPr id="6" name="Ovale 5">
            <a:extLst>
              <a:ext uri="{FF2B5EF4-FFF2-40B4-BE49-F238E27FC236}">
                <a16:creationId xmlns:a16="http://schemas.microsoft.com/office/drawing/2014/main" id="{3CA8E2AE-DE29-9AED-4BD2-CF3145748D9C}"/>
              </a:ext>
            </a:extLst>
          </p:cNvPr>
          <p:cNvSpPr/>
          <p:nvPr/>
        </p:nvSpPr>
        <p:spPr>
          <a:xfrm>
            <a:off x="1586203" y="4432041"/>
            <a:ext cx="3489649" cy="475861"/>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ln w="57150">
                <a:solidFill>
                  <a:schemeClr val="tx1"/>
                </a:solidFill>
              </a:ln>
            </a:endParaRPr>
          </a:p>
        </p:txBody>
      </p:sp>
      <p:sp>
        <p:nvSpPr>
          <p:cNvPr id="8" name="CasellaDiTesto 7">
            <a:extLst>
              <a:ext uri="{FF2B5EF4-FFF2-40B4-BE49-F238E27FC236}">
                <a16:creationId xmlns:a16="http://schemas.microsoft.com/office/drawing/2014/main" id="{A0B34AC1-56C1-AE6B-CD70-80A485BBF143}"/>
              </a:ext>
            </a:extLst>
          </p:cNvPr>
          <p:cNvSpPr txBox="1"/>
          <p:nvPr/>
        </p:nvSpPr>
        <p:spPr>
          <a:xfrm>
            <a:off x="876609" y="5970932"/>
            <a:ext cx="4485523" cy="584775"/>
          </a:xfrm>
          <a:prstGeom prst="rect">
            <a:avLst/>
          </a:prstGeom>
          <a:noFill/>
        </p:spPr>
        <p:txBody>
          <a:bodyPr wrap="none" rtlCol="0">
            <a:spAutoFit/>
          </a:bodyPr>
          <a:lstStyle/>
          <a:p>
            <a:r>
              <a:rPr lang="en-US" sz="1600" i="1"/>
              <a:t>Section of xlnx_ipi.c showing the catching ISR</a:t>
            </a:r>
            <a:endParaRPr lang="it-IT" sz="1600" i="1"/>
          </a:p>
          <a:p>
            <a:endParaRPr lang="it-IT" sz="1600" i="1" dirty="0"/>
          </a:p>
        </p:txBody>
      </p:sp>
      <p:sp>
        <p:nvSpPr>
          <p:cNvPr id="10" name="Ovale 9">
            <a:extLst>
              <a:ext uri="{FF2B5EF4-FFF2-40B4-BE49-F238E27FC236}">
                <a16:creationId xmlns:a16="http://schemas.microsoft.com/office/drawing/2014/main" id="{8FA2B36D-18C2-5966-B023-BF6B07217D25}"/>
              </a:ext>
            </a:extLst>
          </p:cNvPr>
          <p:cNvSpPr/>
          <p:nvPr/>
        </p:nvSpPr>
        <p:spPr>
          <a:xfrm>
            <a:off x="8148454" y="2330127"/>
            <a:ext cx="2842446" cy="431179"/>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ln w="57150">
                <a:solidFill>
                  <a:schemeClr val="tx1"/>
                </a:solidFill>
              </a:ln>
            </a:endParaRPr>
          </a:p>
        </p:txBody>
      </p:sp>
      <p:sp>
        <p:nvSpPr>
          <p:cNvPr id="14" name="CasellaDiTesto 13">
            <a:extLst>
              <a:ext uri="{FF2B5EF4-FFF2-40B4-BE49-F238E27FC236}">
                <a16:creationId xmlns:a16="http://schemas.microsoft.com/office/drawing/2014/main" id="{00F18967-42DF-DA9A-009D-779550ED8129}"/>
              </a:ext>
            </a:extLst>
          </p:cNvPr>
          <p:cNvSpPr txBox="1"/>
          <p:nvPr/>
        </p:nvSpPr>
        <p:spPr>
          <a:xfrm>
            <a:off x="7144383" y="3443516"/>
            <a:ext cx="4031873" cy="338554"/>
          </a:xfrm>
          <a:prstGeom prst="rect">
            <a:avLst/>
          </a:prstGeom>
          <a:noFill/>
        </p:spPr>
        <p:txBody>
          <a:bodyPr wrap="none" rtlCol="0">
            <a:spAutoFit/>
          </a:bodyPr>
          <a:lstStyle/>
          <a:p>
            <a:r>
              <a:rPr lang="en-US" sz="1600" i="1"/>
              <a:t>Section of linker: allocation of the VRings</a:t>
            </a:r>
            <a:endParaRPr lang="it-IT" sz="1600" i="1"/>
          </a:p>
        </p:txBody>
      </p:sp>
      <p:sp>
        <p:nvSpPr>
          <p:cNvPr id="18" name="CasellaDiTesto 17">
            <a:extLst>
              <a:ext uri="{FF2B5EF4-FFF2-40B4-BE49-F238E27FC236}">
                <a16:creationId xmlns:a16="http://schemas.microsoft.com/office/drawing/2014/main" id="{8392B358-5AAB-459D-B836-14F97845ABBC}"/>
              </a:ext>
            </a:extLst>
          </p:cNvPr>
          <p:cNvSpPr txBox="1"/>
          <p:nvPr/>
        </p:nvSpPr>
        <p:spPr>
          <a:xfrm>
            <a:off x="6096000" y="4174955"/>
            <a:ext cx="5662638" cy="2308324"/>
          </a:xfrm>
          <a:prstGeom prst="rect">
            <a:avLst/>
          </a:prstGeom>
          <a:noFill/>
        </p:spPr>
        <p:txBody>
          <a:bodyPr wrap="square" rtlCol="0">
            <a:spAutoFit/>
          </a:bodyPr>
          <a:lstStyle/>
          <a:p>
            <a:pPr marL="285750" indent="-285750">
              <a:buFont typeface="Arial" panose="020B0604020202020204" pitchFamily="34" charset="0"/>
              <a:buChar char="•"/>
            </a:pPr>
            <a:r>
              <a:rPr lang="it-IT" sz="1600" b="1"/>
              <a:t>Static memory mapping:</a:t>
            </a:r>
            <a:r>
              <a:rPr lang="it-IT" sz="1600"/>
              <a:t> Standard dynamic allocation is bypassed; VirtQueues are forcefully allocated at the shared physical address </a:t>
            </a:r>
            <a:r>
              <a:rPr lang="it-IT" sz="1600" i="1"/>
              <a:t>0x37000000</a:t>
            </a:r>
            <a:r>
              <a:rPr lang="it-IT" sz="1600"/>
              <a:t> via directives in the custom linker script, as well as bounce buffers.</a:t>
            </a:r>
          </a:p>
          <a:p>
            <a:pPr marL="285750" indent="-285750">
              <a:buFont typeface="Arial" panose="020B0604020202020204" pitchFamily="34" charset="0"/>
              <a:buChar char="•"/>
            </a:pPr>
            <a:endParaRPr lang="it-IT" sz="1600"/>
          </a:p>
          <a:p>
            <a:pPr marL="285750" indent="-285750">
              <a:buFont typeface="Arial" panose="020B0604020202020204" pitchFamily="34" charset="0"/>
              <a:buChar char="•"/>
            </a:pPr>
            <a:r>
              <a:rPr lang="it-IT" sz="1600" b="1"/>
              <a:t>Direct hardware signaling:</a:t>
            </a:r>
            <a:r>
              <a:rPr lang="it-IT" sz="1600"/>
              <a:t> The absence of traditional software traps (</a:t>
            </a:r>
            <a:r>
              <a:rPr lang="it-IT" sz="1600">
                <a:latin typeface="Batang" panose="02030600000101010101" pitchFamily="18" charset="-127"/>
                <a:ea typeface="Batang" panose="02030600000101010101" pitchFamily="18" charset="-127"/>
              </a:rPr>
              <a:t>VM-exits</a:t>
            </a:r>
            <a:r>
              <a:rPr lang="it-IT" sz="1600"/>
              <a:t>) is compensated by physical Inter-Processor Interrupts (</a:t>
            </a:r>
            <a:r>
              <a:rPr lang="it-IT" sz="1600">
                <a:latin typeface="Batang" panose="02030600000101010101" pitchFamily="18" charset="-127"/>
                <a:ea typeface="Batang" panose="02030600000101010101" pitchFamily="18" charset="-127"/>
              </a:rPr>
              <a:t>IPIs</a:t>
            </a:r>
            <a:r>
              <a:rPr lang="it-IT" sz="1600"/>
              <a:t>), triggered via a direct memory write to the </a:t>
            </a:r>
            <a:r>
              <a:rPr lang="it-IT" sz="1600">
                <a:latin typeface="Batang" panose="02030600000101010101" pitchFamily="18" charset="-127"/>
                <a:ea typeface="Batang" panose="02030600000101010101" pitchFamily="18" charset="-127"/>
              </a:rPr>
              <a:t>IPI_TRIG </a:t>
            </a:r>
            <a:r>
              <a:rPr lang="it-IT" sz="1600"/>
              <a:t>hardware register</a:t>
            </a:r>
            <a:endParaRPr lang="it-IT" sz="1600" dirty="0"/>
          </a:p>
        </p:txBody>
      </p:sp>
    </p:spTree>
    <p:extLst>
      <p:ext uri="{BB962C8B-B14F-4D97-AF65-F5344CB8AC3E}">
        <p14:creationId xmlns:p14="http://schemas.microsoft.com/office/powerpoint/2010/main" val="8344811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4D360-9367-7CD5-E592-E245E18059F3}"/>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13413232-E877-4B3B-7D37-46969D55DB2A}"/>
              </a:ext>
            </a:extLst>
          </p:cNvPr>
          <p:cNvSpPr>
            <a:spLocks noGrp="1"/>
          </p:cNvSpPr>
          <p:nvPr>
            <p:ph type="ctrTitle"/>
          </p:nvPr>
        </p:nvSpPr>
        <p:spPr>
          <a:xfrm>
            <a:off x="660400" y="607947"/>
            <a:ext cx="8990594" cy="509653"/>
          </a:xfrm>
        </p:spPr>
        <p:txBody>
          <a:bodyPr>
            <a:noAutofit/>
          </a:bodyPr>
          <a:lstStyle/>
          <a:p>
            <a:pPr algn="l"/>
            <a:r>
              <a:rPr lang="it-IT" sz="2800"/>
              <a:t>Static Memory Inspection</a:t>
            </a:r>
            <a:endParaRPr lang="it-IT" sz="2800" dirty="0"/>
          </a:p>
        </p:txBody>
      </p:sp>
      <p:sp>
        <p:nvSpPr>
          <p:cNvPr id="8" name="CasellaDiTesto 7">
            <a:extLst>
              <a:ext uri="{FF2B5EF4-FFF2-40B4-BE49-F238E27FC236}">
                <a16:creationId xmlns:a16="http://schemas.microsoft.com/office/drawing/2014/main" id="{88800BCC-5E5B-BD52-4E68-AF6B24545E2A}"/>
              </a:ext>
            </a:extLst>
          </p:cNvPr>
          <p:cNvSpPr txBox="1"/>
          <p:nvPr/>
        </p:nvSpPr>
        <p:spPr>
          <a:xfrm>
            <a:off x="1582030" y="4920512"/>
            <a:ext cx="4599336" cy="584775"/>
          </a:xfrm>
          <a:prstGeom prst="rect">
            <a:avLst/>
          </a:prstGeom>
          <a:noFill/>
        </p:spPr>
        <p:txBody>
          <a:bodyPr wrap="none" rtlCol="0">
            <a:spAutoFit/>
          </a:bodyPr>
          <a:lstStyle/>
          <a:p>
            <a:r>
              <a:rPr lang="en-US" sz="1600" i="1"/>
              <a:t>Memory dump at shared memory base address</a:t>
            </a:r>
            <a:endParaRPr lang="it-IT" sz="1600" i="1"/>
          </a:p>
          <a:p>
            <a:endParaRPr lang="it-IT" sz="1600" i="1" dirty="0"/>
          </a:p>
        </p:txBody>
      </p:sp>
      <p:pic>
        <p:nvPicPr>
          <p:cNvPr id="11" name="Immagine 10">
            <a:extLst>
              <a:ext uri="{FF2B5EF4-FFF2-40B4-BE49-F238E27FC236}">
                <a16:creationId xmlns:a16="http://schemas.microsoft.com/office/drawing/2014/main" id="{EDA24A2C-C5F8-4C75-7CE4-78D88C3727E7}"/>
              </a:ext>
            </a:extLst>
          </p:cNvPr>
          <p:cNvPicPr>
            <a:picLocks noChangeAspect="1"/>
          </p:cNvPicPr>
          <p:nvPr/>
        </p:nvPicPr>
        <p:blipFill rotWithShape="1">
          <a:blip r:embed="rId2">
            <a:extLst>
              <a:ext uri="{28A0092B-C50C-407E-A947-70E740481C1C}">
                <a14:useLocalDpi xmlns:a14="http://schemas.microsoft.com/office/drawing/2010/main" val="0"/>
              </a:ext>
            </a:extLst>
          </a:blip>
          <a:srcRect t="72635" r="49808"/>
          <a:stretch>
            <a:fillRect/>
          </a:stretch>
        </p:blipFill>
        <p:spPr bwMode="auto">
          <a:xfrm>
            <a:off x="660400" y="1645100"/>
            <a:ext cx="6442597" cy="3188158"/>
          </a:xfrm>
          <a:prstGeom prst="rect">
            <a:avLst/>
          </a:prstGeom>
          <a:noFill/>
          <a:ln>
            <a:noFill/>
          </a:ln>
          <a:extLst>
            <a:ext uri="{53640926-AAD7-44D8-BBD7-CCE9431645EC}">
              <a14:shadowObscured xmlns:a14="http://schemas.microsoft.com/office/drawing/2010/main"/>
            </a:ext>
          </a:extLst>
        </p:spPr>
      </p:pic>
      <p:sp>
        <p:nvSpPr>
          <p:cNvPr id="15" name="Rettangolo 14">
            <a:extLst>
              <a:ext uri="{FF2B5EF4-FFF2-40B4-BE49-F238E27FC236}">
                <a16:creationId xmlns:a16="http://schemas.microsoft.com/office/drawing/2014/main" id="{CADB13DF-4914-CF23-E482-B1AAAF0C94F7}"/>
              </a:ext>
            </a:extLst>
          </p:cNvPr>
          <p:cNvSpPr/>
          <p:nvPr/>
        </p:nvSpPr>
        <p:spPr>
          <a:xfrm>
            <a:off x="660400" y="1970880"/>
            <a:ext cx="6298446" cy="262947"/>
          </a:xfrm>
          <a:prstGeom prst="rect">
            <a:avLst/>
          </a:prstGeom>
          <a:no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b="1">
              <a:ln w="22225">
                <a:solidFill>
                  <a:schemeClr val="accent2"/>
                </a:solidFill>
                <a:prstDash val="solid"/>
              </a:ln>
              <a:solidFill>
                <a:schemeClr val="accent2">
                  <a:lumMod val="40000"/>
                  <a:lumOff val="60000"/>
                </a:schemeClr>
              </a:solidFill>
            </a:endParaRPr>
          </a:p>
        </p:txBody>
      </p:sp>
      <p:sp>
        <p:nvSpPr>
          <p:cNvPr id="16" name="Sottotitolo 2">
            <a:extLst>
              <a:ext uri="{FF2B5EF4-FFF2-40B4-BE49-F238E27FC236}">
                <a16:creationId xmlns:a16="http://schemas.microsoft.com/office/drawing/2014/main" id="{69F0129F-9BDD-758C-B156-561EF34A30DE}"/>
              </a:ext>
            </a:extLst>
          </p:cNvPr>
          <p:cNvSpPr>
            <a:spLocks noGrp="1"/>
          </p:cNvSpPr>
          <p:nvPr>
            <p:ph type="subTitle" idx="1"/>
          </p:nvPr>
        </p:nvSpPr>
        <p:spPr>
          <a:xfrm>
            <a:off x="7390257" y="1117600"/>
            <a:ext cx="4521473" cy="5418499"/>
          </a:xfrm>
        </p:spPr>
        <p:txBody>
          <a:bodyPr>
            <a:noAutofit/>
          </a:bodyPr>
          <a:lstStyle/>
          <a:p>
            <a:pPr marL="285750" lvl="0" indent="-285750" algn="l">
              <a:lnSpc>
                <a:spcPct val="107000"/>
              </a:lnSpc>
              <a:spcAft>
                <a:spcPts val="800"/>
              </a:spcAft>
              <a:buSzPts val="1000"/>
              <a:buFont typeface="Arial" panose="020B0604020202020204" pitchFamily="34" charset="0"/>
              <a:buChar char="•"/>
              <a:tabLst>
                <a:tab pos="457200" algn="l"/>
              </a:tabLst>
            </a:pPr>
            <a:r>
              <a:rPr lang="en-US" sz="1600" b="1" kern="0">
                <a:effectLst/>
                <a:latin typeface="+mj-lt"/>
                <a:ea typeface="Times New Roman" panose="02020603050405020304" pitchFamily="18" charset="0"/>
                <a:cs typeface="Times New Roman" panose="02020603050405020304" pitchFamily="18" charset="0"/>
              </a:rPr>
              <a:t>0x74726976</a:t>
            </a:r>
            <a:r>
              <a:rPr lang="en-US" sz="1600" kern="0">
                <a:effectLst/>
                <a:latin typeface="+mj-lt"/>
                <a:ea typeface="Times New Roman" panose="02020603050405020304" pitchFamily="18" charset="0"/>
                <a:cs typeface="Times New Roman" panose="02020603050405020304" pitchFamily="18" charset="0"/>
              </a:rPr>
              <a:t>: </a:t>
            </a:r>
            <a:r>
              <a:rPr lang="en-US" sz="1600" b="1" kern="0">
                <a:effectLst/>
                <a:latin typeface="+mj-lt"/>
                <a:ea typeface="Times New Roman" panose="02020603050405020304" pitchFamily="18" charset="0"/>
                <a:cs typeface="Times New Roman" panose="02020603050405020304" pitchFamily="18" charset="0"/>
              </a:rPr>
              <a:t>"v i r t"</a:t>
            </a:r>
            <a:r>
              <a:rPr lang="en-US" sz="1600" kern="0">
                <a:effectLst/>
                <a:latin typeface="+mj-lt"/>
                <a:ea typeface="Times New Roman" panose="02020603050405020304" pitchFamily="18" charset="0"/>
                <a:cs typeface="Times New Roman" panose="02020603050405020304" pitchFamily="18" charset="0"/>
              </a:rPr>
              <a:t> magic string in ASCII</a:t>
            </a:r>
          </a:p>
          <a:p>
            <a:pPr marL="285750" lvl="0" indent="-285750" algn="l">
              <a:lnSpc>
                <a:spcPct val="107000"/>
              </a:lnSpc>
              <a:spcAft>
                <a:spcPts val="800"/>
              </a:spcAft>
              <a:buSzPts val="1000"/>
              <a:buFont typeface="Arial" panose="020B0604020202020204" pitchFamily="34" charset="0"/>
              <a:buChar char="•"/>
              <a:tabLst>
                <a:tab pos="457200" algn="l"/>
              </a:tabLst>
            </a:pPr>
            <a:r>
              <a:rPr lang="it-IT" sz="1600" b="1" kern="0">
                <a:effectLst/>
                <a:latin typeface="+mj-lt"/>
                <a:ea typeface="Times New Roman" panose="02020603050405020304" pitchFamily="18" charset="0"/>
                <a:cs typeface="Times New Roman" panose="02020603050405020304" pitchFamily="18" charset="0"/>
              </a:rPr>
              <a:t>0x00000001</a:t>
            </a:r>
            <a:r>
              <a:rPr lang="it-IT" sz="1600" kern="0">
                <a:effectLst/>
                <a:latin typeface="+mj-lt"/>
                <a:ea typeface="Times New Roman" panose="02020603050405020304" pitchFamily="18" charset="0"/>
                <a:cs typeface="Times New Roman" panose="02020603050405020304" pitchFamily="18" charset="0"/>
              </a:rPr>
              <a:t>: VirtIO device version (Version 1).</a:t>
            </a:r>
            <a:endParaRPr lang="it-IT" sz="1600" kern="100">
              <a:effectLst/>
              <a:latin typeface="+mj-lt"/>
              <a:ea typeface="Aptos" panose="020B0004020202020204" pitchFamily="34" charset="0"/>
              <a:cs typeface="Times New Roman" panose="02020603050405020304" pitchFamily="18" charset="0"/>
            </a:endParaRPr>
          </a:p>
          <a:p>
            <a:pPr marL="285750" lvl="0" indent="-285750" algn="l">
              <a:lnSpc>
                <a:spcPct val="107000"/>
              </a:lnSpc>
              <a:spcAft>
                <a:spcPts val="800"/>
              </a:spcAft>
              <a:buSzPts val="1000"/>
              <a:buFont typeface="Arial" panose="020B0604020202020204" pitchFamily="34" charset="0"/>
              <a:buChar char="•"/>
              <a:tabLst>
                <a:tab pos="457200" algn="l"/>
              </a:tabLst>
            </a:pPr>
            <a:r>
              <a:rPr lang="en-US" sz="1600" b="1" kern="0">
                <a:effectLst/>
                <a:latin typeface="+mj-lt"/>
                <a:ea typeface="Times New Roman" panose="02020603050405020304" pitchFamily="18" charset="0"/>
                <a:cs typeface="Times New Roman" panose="02020603050405020304" pitchFamily="18" charset="0"/>
              </a:rPr>
              <a:t>0x00000004</a:t>
            </a:r>
            <a:r>
              <a:rPr lang="en-US" sz="1600" kern="0">
                <a:effectLst/>
                <a:latin typeface="+mj-lt"/>
                <a:ea typeface="Times New Roman" panose="02020603050405020304" pitchFamily="18" charset="0"/>
                <a:cs typeface="Times New Roman" panose="02020603050405020304" pitchFamily="18" charset="0"/>
              </a:rPr>
              <a:t>: Device ID. According to the VirtIO specification, ID 4 corresponds exactly to the </a:t>
            </a:r>
            <a:r>
              <a:rPr lang="en-US" sz="1600" b="1" kern="0">
                <a:effectLst/>
                <a:latin typeface="+mj-lt"/>
                <a:ea typeface="Times New Roman" panose="02020603050405020304" pitchFamily="18" charset="0"/>
                <a:cs typeface="Times New Roman" panose="02020603050405020304" pitchFamily="18" charset="0"/>
              </a:rPr>
              <a:t>Virt-RNG</a:t>
            </a:r>
            <a:r>
              <a:rPr lang="en-US" sz="1600" kern="0">
                <a:effectLst/>
                <a:latin typeface="+mj-lt"/>
                <a:ea typeface="Times New Roman" panose="02020603050405020304" pitchFamily="18" charset="0"/>
                <a:cs typeface="Times New Roman" panose="02020603050405020304" pitchFamily="18" charset="0"/>
              </a:rPr>
              <a:t> (entropy) device.</a:t>
            </a:r>
            <a:endParaRPr lang="it-IT" sz="1600" kern="100">
              <a:effectLst/>
              <a:latin typeface="+mj-lt"/>
              <a:ea typeface="Aptos" panose="020B0004020202020204" pitchFamily="34" charset="0"/>
              <a:cs typeface="Times New Roman" panose="02020603050405020304" pitchFamily="18" charset="0"/>
            </a:endParaRPr>
          </a:p>
          <a:p>
            <a:pPr marL="285750" lvl="0" indent="-285750" algn="l">
              <a:lnSpc>
                <a:spcPct val="107000"/>
              </a:lnSpc>
              <a:spcAft>
                <a:spcPts val="800"/>
              </a:spcAft>
              <a:buSzPts val="1000"/>
              <a:buFont typeface="Arial" panose="020B0604020202020204" pitchFamily="34" charset="0"/>
              <a:buChar char="•"/>
              <a:tabLst>
                <a:tab pos="457200" algn="l"/>
              </a:tabLst>
            </a:pPr>
            <a:r>
              <a:rPr lang="en-US" sz="1600" b="1" kern="0">
                <a:effectLst/>
                <a:latin typeface="+mj-lt"/>
                <a:ea typeface="Times New Roman" panose="02020603050405020304" pitchFamily="18" charset="0"/>
                <a:cs typeface="Times New Roman" panose="02020603050405020304" pitchFamily="18" charset="0"/>
              </a:rPr>
              <a:t>0x4d564b4c</a:t>
            </a:r>
            <a:r>
              <a:rPr lang="en-US" sz="1600" kern="0">
                <a:effectLst/>
                <a:latin typeface="+mj-lt"/>
                <a:ea typeface="Times New Roman" panose="02020603050405020304" pitchFamily="18" charset="0"/>
                <a:cs typeface="Times New Roman" panose="02020603050405020304" pitchFamily="18" charset="0"/>
              </a:rPr>
              <a:t>: In ASCII, this translates to </a:t>
            </a:r>
            <a:r>
              <a:rPr lang="en-US" sz="1600" b="1" kern="0">
                <a:effectLst/>
                <a:latin typeface="+mj-lt"/>
                <a:ea typeface="Times New Roman" panose="02020603050405020304" pitchFamily="18" charset="0"/>
                <a:cs typeface="Times New Roman" panose="02020603050405020304" pitchFamily="18" charset="0"/>
              </a:rPr>
              <a:t>"L K V M"</a:t>
            </a:r>
            <a:r>
              <a:rPr lang="en-US" sz="1600" kern="0">
                <a:effectLst/>
                <a:latin typeface="+mj-lt"/>
                <a:ea typeface="Times New Roman" panose="02020603050405020304" pitchFamily="18" charset="0"/>
                <a:cs typeface="Times New Roman" panose="02020603050405020304" pitchFamily="18" charset="0"/>
              </a:rPr>
              <a:t>, the Vendor ID. This provides irrefutable proof that the device was created by the user-space lkvm PMM.</a:t>
            </a:r>
            <a:endParaRPr lang="it-IT" sz="1600" kern="100">
              <a:effectLst/>
              <a:latin typeface="+mj-lt"/>
              <a:ea typeface="Aptos" panose="020B0004020202020204" pitchFamily="34" charset="0"/>
              <a:cs typeface="Times New Roman" panose="02020603050405020304" pitchFamily="18" charset="0"/>
            </a:endParaRPr>
          </a:p>
          <a:p>
            <a:pPr marL="285750" lvl="0" indent="-285750" algn="l">
              <a:lnSpc>
                <a:spcPct val="107000"/>
              </a:lnSpc>
              <a:spcAft>
                <a:spcPts val="800"/>
              </a:spcAft>
              <a:buSzPts val="1000"/>
              <a:buFont typeface="Arial" panose="020B0604020202020204" pitchFamily="34" charset="0"/>
              <a:buChar char="•"/>
              <a:tabLst>
                <a:tab pos="457200" algn="l"/>
              </a:tabLst>
            </a:pPr>
            <a:r>
              <a:rPr lang="en-US" sz="1600" b="1" kern="0">
                <a:effectLst/>
                <a:latin typeface="+mj-lt"/>
                <a:ea typeface="Times New Roman" panose="02020603050405020304" pitchFamily="18" charset="0"/>
                <a:cs typeface="Times New Roman" panose="02020603050405020304" pitchFamily="18" charset="0"/>
              </a:rPr>
              <a:t>0xaabbaabb</a:t>
            </a:r>
            <a:r>
              <a:rPr lang="en-US" sz="1600" kern="0">
                <a:effectLst/>
                <a:latin typeface="+mj-lt"/>
                <a:ea typeface="Times New Roman" panose="02020603050405020304" pitchFamily="18" charset="0"/>
                <a:cs typeface="Times New Roman" panose="02020603050405020304" pitchFamily="18" charset="0"/>
              </a:rPr>
              <a:t>: Value that matches the macro defined in Zephyr's driver, </a:t>
            </a:r>
            <a:r>
              <a:rPr lang="it-IT" sz="1600" kern="0">
                <a:effectLst/>
                <a:latin typeface="+mj-lt"/>
                <a:ea typeface="Times New Roman" panose="02020603050405020304" pitchFamily="18" charset="0"/>
                <a:cs typeface="Times New Roman" panose="02020603050405020304" pitchFamily="18" charset="0"/>
              </a:rPr>
              <a:t>for a custom acknowledgement of the hypervisorless paradigm</a:t>
            </a:r>
            <a:endParaRPr lang="it-IT" sz="1600" kern="100">
              <a:effectLst/>
              <a:latin typeface="+mj-lt"/>
              <a:ea typeface="Aptos" panose="020B0004020202020204" pitchFamily="34" charset="0"/>
              <a:cs typeface="Times New Roman" panose="02020603050405020304" pitchFamily="18" charset="0"/>
            </a:endParaRPr>
          </a:p>
          <a:p>
            <a:pPr marL="285750" indent="-285750" algn="l">
              <a:buFont typeface="Arial" panose="020B0604020202020204" pitchFamily="34" charset="0"/>
              <a:buChar char="•"/>
            </a:pPr>
            <a:endParaRPr lang="it-IT" sz="1600"/>
          </a:p>
          <a:p>
            <a:pPr algn="l"/>
            <a:endParaRPr lang="it-IT" sz="1600" dirty="0"/>
          </a:p>
        </p:txBody>
      </p:sp>
    </p:spTree>
    <p:extLst>
      <p:ext uri="{BB962C8B-B14F-4D97-AF65-F5344CB8AC3E}">
        <p14:creationId xmlns:p14="http://schemas.microsoft.com/office/powerpoint/2010/main" val="38473125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265D2-C859-6308-DD34-EA5D9EF569D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DEE2F029-F4AF-09E1-28B4-55EA386B36F1}"/>
              </a:ext>
            </a:extLst>
          </p:cNvPr>
          <p:cNvSpPr>
            <a:spLocks noGrp="1"/>
          </p:cNvSpPr>
          <p:nvPr>
            <p:ph type="ctrTitle"/>
          </p:nvPr>
        </p:nvSpPr>
        <p:spPr>
          <a:xfrm>
            <a:off x="660400" y="607947"/>
            <a:ext cx="8990594" cy="509653"/>
          </a:xfrm>
        </p:spPr>
        <p:txBody>
          <a:bodyPr>
            <a:noAutofit/>
          </a:bodyPr>
          <a:lstStyle/>
          <a:p>
            <a:pPr algn="l"/>
            <a:r>
              <a:rPr lang="it-IT" sz="2800"/>
              <a:t>Dynamic Payload Interception</a:t>
            </a:r>
            <a:endParaRPr lang="it-IT" sz="2800" dirty="0"/>
          </a:p>
        </p:txBody>
      </p:sp>
      <p:sp>
        <p:nvSpPr>
          <p:cNvPr id="8" name="CasellaDiTesto 7">
            <a:extLst>
              <a:ext uri="{FF2B5EF4-FFF2-40B4-BE49-F238E27FC236}">
                <a16:creationId xmlns:a16="http://schemas.microsoft.com/office/drawing/2014/main" id="{6C8C2FB4-17B3-8788-EB5E-8402409F6650}"/>
              </a:ext>
            </a:extLst>
          </p:cNvPr>
          <p:cNvSpPr txBox="1"/>
          <p:nvPr/>
        </p:nvSpPr>
        <p:spPr>
          <a:xfrm>
            <a:off x="7017729" y="6093532"/>
            <a:ext cx="3890809" cy="584775"/>
          </a:xfrm>
          <a:prstGeom prst="rect">
            <a:avLst/>
          </a:prstGeom>
          <a:noFill/>
        </p:spPr>
        <p:txBody>
          <a:bodyPr wrap="none" rtlCol="0">
            <a:spAutoFit/>
          </a:bodyPr>
          <a:lstStyle/>
          <a:p>
            <a:r>
              <a:rPr lang="it-IT" sz="1600" i="1"/>
              <a:t>Custom payload found in bounce buffer</a:t>
            </a:r>
          </a:p>
          <a:p>
            <a:endParaRPr lang="it-IT" sz="1600" i="1" dirty="0"/>
          </a:p>
        </p:txBody>
      </p:sp>
      <p:sp>
        <p:nvSpPr>
          <p:cNvPr id="16" name="Sottotitolo 2">
            <a:extLst>
              <a:ext uri="{FF2B5EF4-FFF2-40B4-BE49-F238E27FC236}">
                <a16:creationId xmlns:a16="http://schemas.microsoft.com/office/drawing/2014/main" id="{7E696B78-083E-BFC1-4927-4FC70B0B5266}"/>
              </a:ext>
            </a:extLst>
          </p:cNvPr>
          <p:cNvSpPr>
            <a:spLocks noGrp="1"/>
          </p:cNvSpPr>
          <p:nvPr>
            <p:ph type="subTitle" idx="1"/>
          </p:nvPr>
        </p:nvSpPr>
        <p:spPr>
          <a:xfrm>
            <a:off x="755263" y="2839148"/>
            <a:ext cx="2002218" cy="915425"/>
          </a:xfrm>
        </p:spPr>
        <p:txBody>
          <a:bodyPr>
            <a:noAutofit/>
          </a:bodyPr>
          <a:lstStyle/>
          <a:p>
            <a:pPr lvl="0" algn="l">
              <a:lnSpc>
                <a:spcPct val="107000"/>
              </a:lnSpc>
              <a:spcAft>
                <a:spcPts val="800"/>
              </a:spcAft>
              <a:buSzPts val="1000"/>
              <a:tabLst>
                <a:tab pos="457200" algn="l"/>
              </a:tabLst>
            </a:pPr>
            <a:r>
              <a:rPr lang="en-US" sz="1600" kern="0">
                <a:effectLst/>
                <a:latin typeface="+mj-lt"/>
                <a:ea typeface="Times New Roman" panose="02020603050405020304" pitchFamily="18" charset="0"/>
                <a:cs typeface="Times New Roman" panose="02020603050405020304" pitchFamily="18" charset="0"/>
              </a:rPr>
              <a:t>Hexadecimal value corresponding to </a:t>
            </a:r>
            <a:r>
              <a:rPr lang="en-US" sz="1600" kern="0">
                <a:ea typeface="Times New Roman" panose="02020603050405020304" pitchFamily="18" charset="0"/>
                <a:cs typeface="Times New Roman" panose="02020603050405020304" pitchFamily="18" charset="0"/>
              </a:rPr>
              <a:t>letter</a:t>
            </a:r>
            <a:r>
              <a:rPr lang="en-US" sz="1600" b="1" kern="0">
                <a:ea typeface="Times New Roman" panose="02020603050405020304" pitchFamily="18" charset="0"/>
                <a:cs typeface="Times New Roman" panose="02020603050405020304" pitchFamily="18" charset="0"/>
              </a:rPr>
              <a:t> “R” </a:t>
            </a:r>
            <a:r>
              <a:rPr lang="en-US" sz="1600" kern="0">
                <a:ea typeface="Times New Roman" panose="02020603050405020304" pitchFamily="18" charset="0"/>
                <a:cs typeface="Times New Roman" panose="02020603050405020304" pitchFamily="18" charset="0"/>
              </a:rPr>
              <a:t>in ASCII </a:t>
            </a:r>
            <a:endParaRPr lang="en-US" sz="1600" kern="0">
              <a:effectLst/>
              <a:latin typeface="+mj-lt"/>
              <a:ea typeface="Times New Roman" panose="02020603050405020304" pitchFamily="18" charset="0"/>
              <a:cs typeface="Times New Roman" panose="02020603050405020304" pitchFamily="18" charset="0"/>
            </a:endParaRPr>
          </a:p>
          <a:p>
            <a:pPr algn="l"/>
            <a:endParaRPr lang="it-IT" sz="1600" dirty="0"/>
          </a:p>
        </p:txBody>
      </p:sp>
      <p:pic>
        <p:nvPicPr>
          <p:cNvPr id="3" name="Immagine 2">
            <a:extLst>
              <a:ext uri="{FF2B5EF4-FFF2-40B4-BE49-F238E27FC236}">
                <a16:creationId xmlns:a16="http://schemas.microsoft.com/office/drawing/2014/main" id="{1F4AAA52-B2F9-20A0-0DAF-85D83003DC24}"/>
              </a:ext>
            </a:extLst>
          </p:cNvPr>
          <p:cNvPicPr>
            <a:picLocks noChangeAspect="1"/>
          </p:cNvPicPr>
          <p:nvPr/>
        </p:nvPicPr>
        <p:blipFill rotWithShape="1">
          <a:blip r:embed="rId2">
            <a:extLst>
              <a:ext uri="{28A0092B-C50C-407E-A947-70E740481C1C}">
                <a14:useLocalDpi xmlns:a14="http://schemas.microsoft.com/office/drawing/2010/main" val="0"/>
              </a:ext>
            </a:extLst>
          </a:blip>
          <a:srcRect r="1021" b="21139"/>
          <a:stretch>
            <a:fillRect/>
          </a:stretch>
        </p:blipFill>
        <p:spPr bwMode="auto">
          <a:xfrm>
            <a:off x="5986162" y="1241444"/>
            <a:ext cx="5953945" cy="4728244"/>
          </a:xfrm>
          <a:prstGeom prst="rect">
            <a:avLst/>
          </a:prstGeom>
          <a:noFill/>
          <a:ln>
            <a:noFill/>
          </a:ln>
          <a:extLst>
            <a:ext uri="{53640926-AAD7-44D8-BBD7-CCE9431645EC}">
              <a14:shadowObscured xmlns:a14="http://schemas.microsoft.com/office/drawing/2010/main"/>
            </a:ext>
          </a:extLst>
        </p:spPr>
      </p:pic>
      <p:sp>
        <p:nvSpPr>
          <p:cNvPr id="5" name="CasellaDiTesto 4">
            <a:extLst>
              <a:ext uri="{FF2B5EF4-FFF2-40B4-BE49-F238E27FC236}">
                <a16:creationId xmlns:a16="http://schemas.microsoft.com/office/drawing/2014/main" id="{EE4DB276-CD43-E17A-F9BA-3EE1B366A803}"/>
              </a:ext>
            </a:extLst>
          </p:cNvPr>
          <p:cNvSpPr txBox="1"/>
          <p:nvPr/>
        </p:nvSpPr>
        <p:spPr>
          <a:xfrm>
            <a:off x="660400" y="1793708"/>
            <a:ext cx="4747476" cy="369332"/>
          </a:xfrm>
          <a:prstGeom prst="rect">
            <a:avLst/>
          </a:prstGeom>
          <a:noFill/>
        </p:spPr>
        <p:txBody>
          <a:bodyPr wrap="square">
            <a:spAutoFit/>
          </a:bodyPr>
          <a:lstStyle/>
          <a:p>
            <a:r>
              <a:rPr lang="en-US" b="1" kern="0">
                <a:effectLst/>
                <a:latin typeface="Batang" panose="02030600000101010101" pitchFamily="18" charset="-127"/>
                <a:cs typeface="Times New Roman" panose="02020603050405020304" pitchFamily="18" charset="0"/>
              </a:rPr>
              <a:t>ping -p 52 -s 128 -c 500 192.168.200.2</a:t>
            </a:r>
            <a:endParaRPr lang="it-IT"/>
          </a:p>
        </p:txBody>
      </p:sp>
      <p:cxnSp>
        <p:nvCxnSpPr>
          <p:cNvPr id="7" name="Connettore 2 6">
            <a:extLst>
              <a:ext uri="{FF2B5EF4-FFF2-40B4-BE49-F238E27FC236}">
                <a16:creationId xmlns:a16="http://schemas.microsoft.com/office/drawing/2014/main" id="{486236A9-9114-863D-D2AD-D3A2A470A977}"/>
              </a:ext>
            </a:extLst>
          </p:cNvPr>
          <p:cNvCxnSpPr>
            <a:cxnSpLocks/>
            <a:stCxn id="5" idx="3"/>
          </p:cNvCxnSpPr>
          <p:nvPr/>
        </p:nvCxnSpPr>
        <p:spPr>
          <a:xfrm>
            <a:off x="5407876" y="1978374"/>
            <a:ext cx="476876" cy="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nettore 2 13">
            <a:extLst>
              <a:ext uri="{FF2B5EF4-FFF2-40B4-BE49-F238E27FC236}">
                <a16:creationId xmlns:a16="http://schemas.microsoft.com/office/drawing/2014/main" id="{B03C256A-9A26-1B75-E954-F40938E0CCC7}"/>
              </a:ext>
            </a:extLst>
          </p:cNvPr>
          <p:cNvCxnSpPr/>
          <p:nvPr/>
        </p:nvCxnSpPr>
        <p:spPr>
          <a:xfrm>
            <a:off x="1756372" y="2163040"/>
            <a:ext cx="0" cy="607323"/>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8" name="Rettangolo 17">
            <a:extLst>
              <a:ext uri="{FF2B5EF4-FFF2-40B4-BE49-F238E27FC236}">
                <a16:creationId xmlns:a16="http://schemas.microsoft.com/office/drawing/2014/main" id="{DA8673C1-8F29-094E-69DB-002D698655A3}"/>
              </a:ext>
            </a:extLst>
          </p:cNvPr>
          <p:cNvSpPr/>
          <p:nvPr/>
        </p:nvSpPr>
        <p:spPr>
          <a:xfrm>
            <a:off x="1593158" y="1846900"/>
            <a:ext cx="326428" cy="262947"/>
          </a:xfrm>
          <a:prstGeom prst="rect">
            <a:avLst/>
          </a:prstGeom>
          <a:no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b="1">
              <a:ln w="22225">
                <a:solidFill>
                  <a:schemeClr val="accent2"/>
                </a:solidFill>
                <a:prstDash val="solid"/>
              </a:ln>
              <a:solidFill>
                <a:schemeClr val="accent2">
                  <a:lumMod val="40000"/>
                  <a:lumOff val="60000"/>
                </a:schemeClr>
              </a:solidFill>
            </a:endParaRPr>
          </a:p>
        </p:txBody>
      </p:sp>
      <p:sp>
        <p:nvSpPr>
          <p:cNvPr id="20" name="CasellaDiTesto 19">
            <a:extLst>
              <a:ext uri="{FF2B5EF4-FFF2-40B4-BE49-F238E27FC236}">
                <a16:creationId xmlns:a16="http://schemas.microsoft.com/office/drawing/2014/main" id="{9546EBDC-C7BC-A3CA-6ACD-62DD820CB92B}"/>
              </a:ext>
            </a:extLst>
          </p:cNvPr>
          <p:cNvSpPr txBox="1"/>
          <p:nvPr/>
        </p:nvSpPr>
        <p:spPr>
          <a:xfrm>
            <a:off x="202819" y="4057233"/>
            <a:ext cx="5662638" cy="2800767"/>
          </a:xfrm>
          <a:prstGeom prst="rect">
            <a:avLst/>
          </a:prstGeom>
          <a:noFill/>
        </p:spPr>
        <p:txBody>
          <a:bodyPr wrap="square" rtlCol="0">
            <a:spAutoFit/>
          </a:bodyPr>
          <a:lstStyle/>
          <a:p>
            <a:pPr marL="285750" indent="-285750">
              <a:buFont typeface="Arial" panose="020B0604020202020204" pitchFamily="34" charset="0"/>
              <a:buChar char="•"/>
            </a:pPr>
            <a:r>
              <a:rPr lang="it-IT" sz="1600" b="1"/>
              <a:t>The cost of isolation:</a:t>
            </a:r>
            <a:r>
              <a:rPr lang="it-IT" sz="1600"/>
              <a:t> The Zephyr driver uses its private SRAM, which is inaccessible to Linux; the transport therefore mandates an explicit copy (</a:t>
            </a:r>
            <a:r>
              <a:rPr lang="it-IT" sz="1600">
                <a:latin typeface="Batang" panose="02030600000101010101" pitchFamily="18" charset="-127"/>
                <a:ea typeface="Batang" panose="02030600000101010101" pitchFamily="18" charset="-127"/>
              </a:rPr>
              <a:t>memcpy</a:t>
            </a:r>
            <a:r>
              <a:rPr lang="it-IT" sz="1600"/>
              <a:t>) of the packet into the intermediate Bounce Buffers.</a:t>
            </a:r>
          </a:p>
          <a:p>
            <a:endParaRPr lang="it-IT" sz="1600"/>
          </a:p>
          <a:p>
            <a:pPr marL="285750" indent="-285750">
              <a:buFont typeface="Arial" panose="020B0604020202020204" pitchFamily="34" charset="0"/>
              <a:buChar char="•"/>
            </a:pPr>
            <a:r>
              <a:rPr lang="it-IT" sz="1600" b="1"/>
              <a:t>Dynamic verification:</a:t>
            </a:r>
            <a:r>
              <a:rPr lang="it-IT" sz="1600"/>
              <a:t> By suspending QEMU and scanning the Descriptor Ring, the physical pointer to the Bounce Buffer was located, visually proving the transit of the custom payload within the shared memory</a:t>
            </a:r>
            <a:endParaRPr lang="it-IT" sz="1600" dirty="0"/>
          </a:p>
        </p:txBody>
      </p:sp>
    </p:spTree>
    <p:extLst>
      <p:ext uri="{BB962C8B-B14F-4D97-AF65-F5344CB8AC3E}">
        <p14:creationId xmlns:p14="http://schemas.microsoft.com/office/powerpoint/2010/main" val="36999514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738A12-D09E-1886-F8C5-699DCBE86364}"/>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16E74326-C351-2E9F-A85D-BC7F0E94DCC9}"/>
              </a:ext>
            </a:extLst>
          </p:cNvPr>
          <p:cNvSpPr>
            <a:spLocks noGrp="1"/>
          </p:cNvSpPr>
          <p:nvPr>
            <p:ph type="ctrTitle"/>
          </p:nvPr>
        </p:nvSpPr>
        <p:spPr>
          <a:xfrm>
            <a:off x="660400" y="607947"/>
            <a:ext cx="8990594" cy="509653"/>
          </a:xfrm>
        </p:spPr>
        <p:txBody>
          <a:bodyPr>
            <a:noAutofit/>
          </a:bodyPr>
          <a:lstStyle/>
          <a:p>
            <a:pPr algn="l"/>
            <a:r>
              <a:rPr lang="it-IT" sz="2800"/>
              <a:t>Custom Firmware Instrumentation</a:t>
            </a:r>
            <a:endParaRPr lang="it-IT" sz="2800" dirty="0"/>
          </a:p>
        </p:txBody>
      </p:sp>
      <p:sp>
        <p:nvSpPr>
          <p:cNvPr id="8" name="CasellaDiTesto 7">
            <a:extLst>
              <a:ext uri="{FF2B5EF4-FFF2-40B4-BE49-F238E27FC236}">
                <a16:creationId xmlns:a16="http://schemas.microsoft.com/office/drawing/2014/main" id="{C03E2BF0-FE66-A028-7F38-414B0404AF3E}"/>
              </a:ext>
            </a:extLst>
          </p:cNvPr>
          <p:cNvSpPr txBox="1"/>
          <p:nvPr/>
        </p:nvSpPr>
        <p:spPr>
          <a:xfrm>
            <a:off x="1176095" y="5127139"/>
            <a:ext cx="4110421" cy="584775"/>
          </a:xfrm>
          <a:prstGeom prst="rect">
            <a:avLst/>
          </a:prstGeom>
          <a:noFill/>
        </p:spPr>
        <p:txBody>
          <a:bodyPr wrap="none" rtlCol="0">
            <a:spAutoFit/>
          </a:bodyPr>
          <a:lstStyle/>
          <a:p>
            <a:r>
              <a:rPr lang="en-US" sz="1600" i="1"/>
              <a:t>Zephyr print after custom instrumentation</a:t>
            </a:r>
            <a:endParaRPr lang="it-IT" sz="1600" i="1"/>
          </a:p>
          <a:p>
            <a:endParaRPr lang="it-IT" sz="1600" i="1" dirty="0"/>
          </a:p>
        </p:txBody>
      </p:sp>
      <p:pic>
        <p:nvPicPr>
          <p:cNvPr id="3" name="Immagine 2">
            <a:extLst>
              <a:ext uri="{FF2B5EF4-FFF2-40B4-BE49-F238E27FC236}">
                <a16:creationId xmlns:a16="http://schemas.microsoft.com/office/drawing/2014/main" id="{1F62D69F-5AE3-1FF9-22F0-EC63D688232F}"/>
              </a:ext>
            </a:extLst>
          </p:cNvPr>
          <p:cNvPicPr>
            <a:picLocks noChangeAspect="1"/>
          </p:cNvPicPr>
          <p:nvPr/>
        </p:nvPicPr>
        <p:blipFill>
          <a:blip r:embed="rId2">
            <a:extLst>
              <a:ext uri="{28A0092B-C50C-407E-A947-70E740481C1C}">
                <a14:useLocalDpi xmlns:a14="http://schemas.microsoft.com/office/drawing/2010/main" val="0"/>
              </a:ext>
            </a:extLst>
          </a:blip>
          <a:srcRect r="46203"/>
          <a:stretch>
            <a:fillRect/>
          </a:stretch>
        </p:blipFill>
        <p:spPr bwMode="auto">
          <a:xfrm>
            <a:off x="651347" y="1598760"/>
            <a:ext cx="5141815" cy="3380646"/>
          </a:xfrm>
          <a:prstGeom prst="rect">
            <a:avLst/>
          </a:prstGeom>
          <a:noFill/>
          <a:ln>
            <a:noFill/>
          </a:ln>
        </p:spPr>
      </p:pic>
      <p:sp>
        <p:nvSpPr>
          <p:cNvPr id="5" name="Rettangolo 4">
            <a:extLst>
              <a:ext uri="{FF2B5EF4-FFF2-40B4-BE49-F238E27FC236}">
                <a16:creationId xmlns:a16="http://schemas.microsoft.com/office/drawing/2014/main" id="{0C3DDDF3-1741-ED18-B73D-73EDE940F06C}"/>
              </a:ext>
            </a:extLst>
          </p:cNvPr>
          <p:cNvSpPr/>
          <p:nvPr/>
        </p:nvSpPr>
        <p:spPr>
          <a:xfrm>
            <a:off x="669452" y="2706987"/>
            <a:ext cx="5123709" cy="1674891"/>
          </a:xfrm>
          <a:prstGeom prst="rect">
            <a:avLst/>
          </a:prstGeom>
          <a:no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b="1">
              <a:ln w="22225">
                <a:solidFill>
                  <a:schemeClr val="accent2"/>
                </a:solidFill>
                <a:prstDash val="solid"/>
              </a:ln>
              <a:solidFill>
                <a:schemeClr val="accent2">
                  <a:lumMod val="40000"/>
                  <a:lumOff val="60000"/>
                </a:schemeClr>
              </a:solidFill>
            </a:endParaRPr>
          </a:p>
        </p:txBody>
      </p:sp>
      <p:sp>
        <p:nvSpPr>
          <p:cNvPr id="10" name="CasellaDiTesto 9">
            <a:extLst>
              <a:ext uri="{FF2B5EF4-FFF2-40B4-BE49-F238E27FC236}">
                <a16:creationId xmlns:a16="http://schemas.microsoft.com/office/drawing/2014/main" id="{42940F5E-E9D9-51FC-9889-124A74B884E4}"/>
              </a:ext>
            </a:extLst>
          </p:cNvPr>
          <p:cNvSpPr txBox="1"/>
          <p:nvPr/>
        </p:nvSpPr>
        <p:spPr>
          <a:xfrm>
            <a:off x="6398840" y="2151727"/>
            <a:ext cx="5624162" cy="2554545"/>
          </a:xfrm>
          <a:prstGeom prst="rect">
            <a:avLst/>
          </a:prstGeom>
          <a:noFill/>
        </p:spPr>
        <p:txBody>
          <a:bodyPr wrap="square" rtlCol="0">
            <a:spAutoFit/>
          </a:bodyPr>
          <a:lstStyle/>
          <a:p>
            <a:pPr marL="285750" indent="-285750">
              <a:buFont typeface="Arial" panose="020B0604020202020204" pitchFamily="34" charset="0"/>
              <a:buChar char="•"/>
            </a:pPr>
            <a:r>
              <a:rPr lang="it-IT" sz="1600" b="1"/>
              <a:t>Custom cross-compilation:</a:t>
            </a:r>
            <a:r>
              <a:rPr lang="it-IT" sz="1600"/>
              <a:t> Generated the </a:t>
            </a:r>
            <a:r>
              <a:rPr lang="it-IT" sz="1600">
                <a:latin typeface="Batang" panose="02030600000101010101" pitchFamily="18" charset="-127"/>
                <a:ea typeface="Batang" panose="02030600000101010101" pitchFamily="18" charset="-127"/>
              </a:rPr>
              <a:t>zephyr.elf </a:t>
            </a:r>
            <a:r>
              <a:rPr lang="it-IT" sz="1600">
                <a:latin typeface="+mj-lt"/>
                <a:ea typeface="Batang" panose="02030600000101010101" pitchFamily="18" charset="-127"/>
              </a:rPr>
              <a:t>personalized</a:t>
            </a:r>
            <a:r>
              <a:rPr lang="it-IT" sz="1600">
                <a:latin typeface="Batang" panose="02030600000101010101" pitchFamily="18" charset="-127"/>
                <a:ea typeface="Batang" panose="02030600000101010101" pitchFamily="18" charset="-127"/>
              </a:rPr>
              <a:t> </a:t>
            </a:r>
            <a:r>
              <a:rPr lang="it-IT" sz="1600"/>
              <a:t>firmware, forcing the compiler to exclusively link the experimental hypervisorless frontend modules to resolve dependency conflicts.</a:t>
            </a:r>
          </a:p>
          <a:p>
            <a:pPr marL="285750" indent="-285750">
              <a:buFont typeface="Arial" panose="020B0604020202020204" pitchFamily="34" charset="0"/>
              <a:buChar char="•"/>
            </a:pPr>
            <a:endParaRPr lang="it-IT" sz="1600" b="1"/>
          </a:p>
          <a:p>
            <a:pPr marL="285750" indent="-285750">
              <a:buFont typeface="Arial" panose="020B0604020202020204" pitchFamily="34" charset="0"/>
              <a:buChar char="•"/>
            </a:pPr>
            <a:r>
              <a:rPr lang="it-IT" sz="1600" b="1"/>
              <a:t>Frontend alteration:</a:t>
            </a:r>
            <a:r>
              <a:rPr lang="it-IT" sz="1600"/>
              <a:t> The silent boot behavior of the </a:t>
            </a:r>
            <a:r>
              <a:rPr lang="it-IT" sz="1600">
                <a:latin typeface="Batang" panose="02030600000101010101" pitchFamily="18" charset="-127"/>
                <a:ea typeface="Batang" panose="02030600000101010101" pitchFamily="18" charset="-127"/>
              </a:rPr>
              <a:t>virt-rng</a:t>
            </a:r>
            <a:r>
              <a:rPr lang="it-IT" sz="1600"/>
              <a:t> driver on Zephyr was modified to explicitly request and print a larger payload (32 bytes of entropy).</a:t>
            </a:r>
          </a:p>
          <a:p>
            <a:endParaRPr lang="it-IT" sz="1600"/>
          </a:p>
        </p:txBody>
      </p:sp>
    </p:spTree>
    <p:extLst>
      <p:ext uri="{BB962C8B-B14F-4D97-AF65-F5344CB8AC3E}">
        <p14:creationId xmlns:p14="http://schemas.microsoft.com/office/powerpoint/2010/main" val="40650445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74CC5-29AE-B7DC-DD7F-C0A78FA01C7E}"/>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801EEA0-AB0E-8591-88B6-E60589BA5E73}"/>
              </a:ext>
            </a:extLst>
          </p:cNvPr>
          <p:cNvSpPr>
            <a:spLocks noGrp="1"/>
          </p:cNvSpPr>
          <p:nvPr>
            <p:ph type="ctrTitle"/>
          </p:nvPr>
        </p:nvSpPr>
        <p:spPr>
          <a:xfrm>
            <a:off x="660400" y="607947"/>
            <a:ext cx="8990594" cy="509653"/>
          </a:xfrm>
        </p:spPr>
        <p:txBody>
          <a:bodyPr>
            <a:noAutofit/>
          </a:bodyPr>
          <a:lstStyle/>
          <a:p>
            <a:pPr algn="l"/>
            <a:r>
              <a:rPr lang="it-IT" sz="2800"/>
              <a:t>Latency Analysis in Zync UltraScale</a:t>
            </a:r>
            <a:r>
              <a:rPr lang="en-US" sz="2800"/>
              <a:t>+ with QEMU</a:t>
            </a:r>
            <a:endParaRPr lang="it-IT" sz="2800" dirty="0"/>
          </a:p>
        </p:txBody>
      </p:sp>
      <p:pic>
        <p:nvPicPr>
          <p:cNvPr id="6" name="Immagine 5">
            <a:extLst>
              <a:ext uri="{FF2B5EF4-FFF2-40B4-BE49-F238E27FC236}">
                <a16:creationId xmlns:a16="http://schemas.microsoft.com/office/drawing/2014/main" id="{8F5A0CBE-BCA9-58C2-ECFE-B1CAB1AFAF16}"/>
              </a:ext>
            </a:extLst>
          </p:cNvPr>
          <p:cNvPicPr>
            <a:picLocks noChangeAspect="1"/>
          </p:cNvPicPr>
          <p:nvPr/>
        </p:nvPicPr>
        <p:blipFill>
          <a:blip r:embed="rId2"/>
          <a:stretch>
            <a:fillRect/>
          </a:stretch>
        </p:blipFill>
        <p:spPr>
          <a:xfrm>
            <a:off x="669060" y="1361811"/>
            <a:ext cx="10853879" cy="2811836"/>
          </a:xfrm>
          <a:prstGeom prst="rect">
            <a:avLst/>
          </a:prstGeom>
        </p:spPr>
      </p:pic>
      <p:sp>
        <p:nvSpPr>
          <p:cNvPr id="9" name="CasellaDiTesto 8">
            <a:extLst>
              <a:ext uri="{FF2B5EF4-FFF2-40B4-BE49-F238E27FC236}">
                <a16:creationId xmlns:a16="http://schemas.microsoft.com/office/drawing/2014/main" id="{7FA6AF59-2696-F8E6-4D1A-E587A0A73BFE}"/>
              </a:ext>
            </a:extLst>
          </p:cNvPr>
          <p:cNvSpPr txBox="1"/>
          <p:nvPr/>
        </p:nvSpPr>
        <p:spPr>
          <a:xfrm>
            <a:off x="1737410" y="4294220"/>
            <a:ext cx="3174267" cy="584775"/>
          </a:xfrm>
          <a:prstGeom prst="rect">
            <a:avLst/>
          </a:prstGeom>
          <a:noFill/>
        </p:spPr>
        <p:txBody>
          <a:bodyPr wrap="none" rtlCol="0">
            <a:spAutoFit/>
          </a:bodyPr>
          <a:lstStyle/>
          <a:p>
            <a:r>
              <a:rPr lang="en-US" sz="1600" b="1" i="1"/>
              <a:t>Ping 56 byte</a:t>
            </a:r>
            <a:r>
              <a:rPr lang="en-US" sz="1600" i="1"/>
              <a:t>: Standard Latency</a:t>
            </a:r>
            <a:endParaRPr lang="it-IT" sz="1600" i="1"/>
          </a:p>
          <a:p>
            <a:endParaRPr lang="it-IT" sz="1600" i="1" dirty="0"/>
          </a:p>
        </p:txBody>
      </p:sp>
      <p:sp>
        <p:nvSpPr>
          <p:cNvPr id="18" name="CasellaDiTesto 17">
            <a:extLst>
              <a:ext uri="{FF2B5EF4-FFF2-40B4-BE49-F238E27FC236}">
                <a16:creationId xmlns:a16="http://schemas.microsoft.com/office/drawing/2014/main" id="{ED4FF575-1568-6BD0-7A41-C99ECA8D98C3}"/>
              </a:ext>
            </a:extLst>
          </p:cNvPr>
          <p:cNvSpPr txBox="1"/>
          <p:nvPr/>
        </p:nvSpPr>
        <p:spPr>
          <a:xfrm>
            <a:off x="7280325" y="4294219"/>
            <a:ext cx="3161443" cy="584775"/>
          </a:xfrm>
          <a:prstGeom prst="rect">
            <a:avLst/>
          </a:prstGeom>
          <a:noFill/>
        </p:spPr>
        <p:txBody>
          <a:bodyPr wrap="none" rtlCol="0">
            <a:spAutoFit/>
          </a:bodyPr>
          <a:lstStyle/>
          <a:p>
            <a:r>
              <a:rPr lang="en-US" sz="1600" b="1" i="1"/>
              <a:t>Ping 1400 byte</a:t>
            </a:r>
            <a:r>
              <a:rPr lang="en-US" sz="1600" i="1"/>
              <a:t>: </a:t>
            </a:r>
            <a:r>
              <a:rPr lang="it-IT" sz="1600" i="1"/>
              <a:t>Larger Payload</a:t>
            </a:r>
          </a:p>
          <a:p>
            <a:endParaRPr lang="it-IT" sz="1600" i="1" dirty="0"/>
          </a:p>
        </p:txBody>
      </p:sp>
      <p:sp>
        <p:nvSpPr>
          <p:cNvPr id="22" name="CasellaDiTesto 21">
            <a:extLst>
              <a:ext uri="{FF2B5EF4-FFF2-40B4-BE49-F238E27FC236}">
                <a16:creationId xmlns:a16="http://schemas.microsoft.com/office/drawing/2014/main" id="{1E473F32-231C-B864-05BA-05AA22A320B2}"/>
              </a:ext>
            </a:extLst>
          </p:cNvPr>
          <p:cNvSpPr txBox="1"/>
          <p:nvPr/>
        </p:nvSpPr>
        <p:spPr>
          <a:xfrm>
            <a:off x="2571182" y="5144422"/>
            <a:ext cx="7049633" cy="1077218"/>
          </a:xfrm>
          <a:prstGeom prst="rect">
            <a:avLst/>
          </a:prstGeom>
          <a:noFill/>
        </p:spPr>
        <p:txBody>
          <a:bodyPr wrap="square">
            <a:spAutoFit/>
          </a:bodyPr>
          <a:lstStyle/>
          <a:p>
            <a:pPr algn="ctr"/>
            <a:r>
              <a:rPr lang="it-IT" sz="1600" b="1"/>
              <a:t>~2.4 ms jump in maximum latency</a:t>
            </a:r>
            <a:r>
              <a:rPr lang="it-IT" sz="1600"/>
              <a:t> which proves the architectural trade-off: lacking RPMsg's true zero-copy, the processor is forced to spend extra clock cycles explicitly copying the larger payload into the shared bounce buffers (</a:t>
            </a:r>
            <a:r>
              <a:rPr lang="it-IT" sz="1600" b="1"/>
              <a:t>explicit memcpy</a:t>
            </a:r>
            <a:r>
              <a:rPr lang="it-IT" sz="1600"/>
              <a:t>).</a:t>
            </a:r>
          </a:p>
        </p:txBody>
      </p:sp>
    </p:spTree>
    <p:extLst>
      <p:ext uri="{BB962C8B-B14F-4D97-AF65-F5344CB8AC3E}">
        <p14:creationId xmlns:p14="http://schemas.microsoft.com/office/powerpoint/2010/main" val="42718964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5A40A9C-6945-0F65-0880-817407722FE8}"/>
              </a:ext>
            </a:extLst>
          </p:cNvPr>
          <p:cNvSpPr>
            <a:spLocks noGrp="1"/>
          </p:cNvSpPr>
          <p:nvPr>
            <p:ph type="ctrTitle"/>
          </p:nvPr>
        </p:nvSpPr>
        <p:spPr>
          <a:xfrm>
            <a:off x="666163" y="564333"/>
            <a:ext cx="7572490" cy="522796"/>
          </a:xfrm>
        </p:spPr>
        <p:txBody>
          <a:bodyPr>
            <a:noAutofit/>
          </a:bodyPr>
          <a:lstStyle/>
          <a:p>
            <a:r>
              <a:rPr lang="it-IT" sz="2800" err="1"/>
              <a:t>Contextualizing</a:t>
            </a:r>
            <a:r>
              <a:rPr lang="it-IT" sz="2800"/>
              <a:t> Time and Emulation Limits</a:t>
            </a:r>
            <a:endParaRPr lang="it-IT" sz="2800" dirty="0"/>
          </a:p>
        </p:txBody>
      </p:sp>
      <p:sp>
        <p:nvSpPr>
          <p:cNvPr id="3" name="Sottotitolo 2">
            <a:extLst>
              <a:ext uri="{FF2B5EF4-FFF2-40B4-BE49-F238E27FC236}">
                <a16:creationId xmlns:a16="http://schemas.microsoft.com/office/drawing/2014/main" id="{2AE10CA6-84EA-F11B-518A-EDC6125DD544}"/>
              </a:ext>
            </a:extLst>
          </p:cNvPr>
          <p:cNvSpPr>
            <a:spLocks noGrp="1"/>
          </p:cNvSpPr>
          <p:nvPr>
            <p:ph type="subTitle" idx="1"/>
          </p:nvPr>
        </p:nvSpPr>
        <p:spPr>
          <a:xfrm>
            <a:off x="666163" y="1586880"/>
            <a:ext cx="5815660" cy="4375732"/>
          </a:xfrm>
        </p:spPr>
        <p:txBody>
          <a:bodyPr>
            <a:noAutofit/>
          </a:bodyPr>
          <a:lstStyle/>
          <a:p>
            <a:pPr algn="l"/>
            <a:r>
              <a:rPr lang="it-IT" sz="1600" dirty="0" err="1"/>
              <a:t>It</a:t>
            </a:r>
            <a:r>
              <a:rPr lang="it-IT" sz="1600" dirty="0"/>
              <a:t> </a:t>
            </a:r>
            <a:r>
              <a:rPr lang="it-IT" sz="1600" dirty="0" err="1"/>
              <a:t>is</a:t>
            </a:r>
            <a:r>
              <a:rPr lang="it-IT" sz="1600" dirty="0"/>
              <a:t> </a:t>
            </a:r>
            <a:r>
              <a:rPr lang="it-IT" sz="1600" dirty="0" err="1"/>
              <a:t>mandatory</a:t>
            </a:r>
            <a:r>
              <a:rPr lang="it-IT" sz="1600" dirty="0"/>
              <a:t> to state </a:t>
            </a:r>
            <a:r>
              <a:rPr lang="it-IT" sz="1600" dirty="0" err="1"/>
              <a:t>that</a:t>
            </a:r>
            <a:r>
              <a:rPr lang="it-IT" sz="1600" dirty="0"/>
              <a:t> the </a:t>
            </a:r>
            <a:r>
              <a:rPr lang="it-IT" sz="1600" b="1" dirty="0"/>
              <a:t>timing </a:t>
            </a:r>
            <a:r>
              <a:rPr lang="it-IT" sz="1600" b="1" dirty="0" err="1"/>
              <a:t>measurements</a:t>
            </a:r>
            <a:r>
              <a:rPr lang="it-IT" sz="1600" b="1" dirty="0"/>
              <a:t> </a:t>
            </a:r>
            <a:r>
              <a:rPr lang="it-IT" sz="1600" dirty="0" err="1"/>
              <a:t>obtained</a:t>
            </a:r>
            <a:r>
              <a:rPr lang="it-IT" sz="1600" dirty="0"/>
              <a:t> in </a:t>
            </a:r>
            <a:r>
              <a:rPr lang="it-IT" sz="1600" dirty="0" err="1"/>
              <a:t>this</a:t>
            </a:r>
            <a:r>
              <a:rPr lang="it-IT" sz="1600" dirty="0"/>
              <a:t> </a:t>
            </a:r>
            <a:r>
              <a:rPr lang="it-IT" sz="1600" dirty="0" err="1"/>
              <a:t>experiment</a:t>
            </a:r>
            <a:r>
              <a:rPr lang="it-IT" sz="1600" dirty="0"/>
              <a:t> are </a:t>
            </a:r>
            <a:r>
              <a:rPr lang="it-IT" sz="1600" b="1" dirty="0" err="1"/>
              <a:t>not</a:t>
            </a:r>
            <a:r>
              <a:rPr lang="it-IT" sz="1600" b="1" dirty="0"/>
              <a:t> </a:t>
            </a:r>
            <a:r>
              <a:rPr lang="it-IT" sz="1600" b="1" dirty="0" err="1"/>
              <a:t>representative</a:t>
            </a:r>
            <a:r>
              <a:rPr lang="it-IT" sz="1600" b="1" dirty="0"/>
              <a:t> </a:t>
            </a:r>
            <a:r>
              <a:rPr lang="it-IT" sz="1600" dirty="0"/>
              <a:t>of </a:t>
            </a:r>
            <a:r>
              <a:rPr lang="it-IT" sz="1600" dirty="0" err="1"/>
              <a:t>absolute</a:t>
            </a:r>
            <a:r>
              <a:rPr lang="it-IT" sz="1600" dirty="0"/>
              <a:t> real-time hardware performance.</a:t>
            </a:r>
          </a:p>
          <a:p>
            <a:pPr algn="l"/>
            <a:endParaRPr lang="it-IT" sz="1600" dirty="0"/>
          </a:p>
          <a:p>
            <a:pPr algn="l"/>
            <a:r>
              <a:rPr lang="it-IT" sz="1600" dirty="0" err="1"/>
              <a:t>As</a:t>
            </a:r>
            <a:r>
              <a:rPr lang="it-IT" sz="1600" dirty="0"/>
              <a:t> the </a:t>
            </a:r>
            <a:r>
              <a:rPr lang="it-IT" sz="1600" dirty="0" err="1"/>
              <a:t>execution</a:t>
            </a:r>
            <a:r>
              <a:rPr lang="it-IT" sz="1600" dirty="0"/>
              <a:t> </a:t>
            </a:r>
            <a:r>
              <a:rPr lang="it-IT" sz="1600" dirty="0" err="1"/>
              <a:t>environment</a:t>
            </a:r>
            <a:r>
              <a:rPr lang="it-IT" sz="1600" dirty="0"/>
              <a:t> </a:t>
            </a:r>
            <a:r>
              <a:rPr lang="it-IT" sz="1600" dirty="0" err="1"/>
              <a:t>relies</a:t>
            </a:r>
            <a:r>
              <a:rPr lang="it-IT" sz="1600" dirty="0"/>
              <a:t> </a:t>
            </a:r>
            <a:r>
              <a:rPr lang="it-IT" sz="1600" dirty="0" err="1"/>
              <a:t>entirely</a:t>
            </a:r>
            <a:r>
              <a:rPr lang="it-IT" sz="1600" dirty="0"/>
              <a:t> on QEMU, the </a:t>
            </a:r>
            <a:r>
              <a:rPr lang="it-IT" sz="1600" dirty="0" err="1"/>
              <a:t>recorded</a:t>
            </a:r>
            <a:r>
              <a:rPr lang="it-IT" sz="1600" dirty="0"/>
              <a:t> </a:t>
            </a:r>
            <a:r>
              <a:rPr lang="it-IT" sz="1600" dirty="0" err="1"/>
              <a:t>ping</a:t>
            </a:r>
            <a:r>
              <a:rPr lang="it-IT" sz="1600" dirty="0"/>
              <a:t> </a:t>
            </a:r>
            <a:r>
              <a:rPr lang="it-IT" sz="1600" dirty="0" err="1"/>
              <a:t>latencies</a:t>
            </a:r>
            <a:r>
              <a:rPr lang="it-IT" sz="1600" dirty="0"/>
              <a:t> are </a:t>
            </a:r>
            <a:r>
              <a:rPr lang="it-IT" sz="1600" b="1" dirty="0" err="1"/>
              <a:t>heavily</a:t>
            </a:r>
            <a:r>
              <a:rPr lang="it-IT" sz="1600" b="1" dirty="0"/>
              <a:t> </a:t>
            </a:r>
            <a:r>
              <a:rPr lang="it-IT" sz="1600" b="1" dirty="0" err="1"/>
              <a:t>distorted</a:t>
            </a:r>
            <a:r>
              <a:rPr lang="it-IT" sz="1600" b="1" dirty="0"/>
              <a:t> </a:t>
            </a:r>
            <a:r>
              <a:rPr lang="it-IT" sz="1600" dirty="0"/>
              <a:t>by the </a:t>
            </a:r>
            <a:r>
              <a:rPr lang="it-IT" sz="1600" dirty="0" err="1"/>
              <a:t>host</a:t>
            </a:r>
            <a:r>
              <a:rPr lang="it-IT" sz="1600" dirty="0"/>
              <a:t> OS </a:t>
            </a:r>
            <a:r>
              <a:rPr lang="it-IT" sz="1600" dirty="0" err="1"/>
              <a:t>scheduler</a:t>
            </a:r>
            <a:r>
              <a:rPr lang="it-IT" sz="1600" dirty="0"/>
              <a:t>, background </a:t>
            </a:r>
            <a:r>
              <a:rPr lang="it-IT" sz="1600" dirty="0" err="1"/>
              <a:t>processes</a:t>
            </a:r>
            <a:r>
              <a:rPr lang="it-IT" sz="1600" dirty="0"/>
              <a:t>, and the </a:t>
            </a:r>
            <a:r>
              <a:rPr lang="it-IT" sz="1600" dirty="0" err="1"/>
              <a:t>virtualization</a:t>
            </a:r>
            <a:r>
              <a:rPr lang="it-IT" sz="1600" dirty="0"/>
              <a:t> overhead of the Docker container</a:t>
            </a:r>
            <a:r>
              <a:rPr lang="it-IT" sz="1600"/>
              <a:t>. </a:t>
            </a:r>
          </a:p>
          <a:p>
            <a:pPr algn="l"/>
            <a:endParaRPr lang="it-IT" sz="1600"/>
          </a:p>
          <a:p>
            <a:pPr algn="l"/>
            <a:r>
              <a:rPr lang="it-IT" sz="1600"/>
              <a:t>Therefore</a:t>
            </a:r>
            <a:r>
              <a:rPr lang="it-IT" sz="1600" dirty="0"/>
              <a:t>, the </a:t>
            </a:r>
            <a:r>
              <a:rPr lang="it-IT" sz="1600" dirty="0" err="1"/>
              <a:t>results</a:t>
            </a:r>
            <a:r>
              <a:rPr lang="it-IT" sz="1600" dirty="0"/>
              <a:t> </a:t>
            </a:r>
            <a:r>
              <a:rPr lang="it-IT" sz="1600" dirty="0" err="1"/>
              <a:t>successfully</a:t>
            </a:r>
            <a:r>
              <a:rPr lang="it-IT" sz="1600" dirty="0"/>
              <a:t> </a:t>
            </a:r>
            <a:r>
              <a:rPr lang="it-IT" sz="1600" dirty="0" err="1"/>
              <a:t>demonstrate</a:t>
            </a:r>
            <a:r>
              <a:rPr lang="it-IT" sz="1600" dirty="0"/>
              <a:t> the </a:t>
            </a:r>
            <a:r>
              <a:rPr lang="it-IT" sz="1600" b="1" dirty="0" err="1"/>
              <a:t>functional</a:t>
            </a:r>
            <a:r>
              <a:rPr lang="it-IT" sz="1600" b="1" dirty="0"/>
              <a:t> </a:t>
            </a:r>
            <a:r>
              <a:rPr lang="it-IT" sz="1600" b="1" dirty="0" err="1"/>
              <a:t>behavior</a:t>
            </a:r>
            <a:r>
              <a:rPr lang="it-IT" sz="1600" dirty="0"/>
              <a:t> and the relative trends of the </a:t>
            </a:r>
            <a:r>
              <a:rPr lang="it-IT" sz="1600" dirty="0" err="1"/>
              <a:t>hypervisorless</a:t>
            </a:r>
            <a:r>
              <a:rPr lang="it-IT" sz="1600" dirty="0"/>
              <a:t> </a:t>
            </a:r>
            <a:r>
              <a:rPr lang="it-IT" sz="1600" dirty="0" err="1"/>
              <a:t>VirtIO</a:t>
            </a:r>
            <a:r>
              <a:rPr lang="it-IT" sz="1600" dirty="0"/>
              <a:t> </a:t>
            </a:r>
            <a:r>
              <a:rPr lang="it-IT" sz="1600" dirty="0" err="1"/>
              <a:t>architecture</a:t>
            </a:r>
            <a:r>
              <a:rPr lang="it-IT" sz="1600" dirty="0"/>
              <a:t>, </a:t>
            </a:r>
            <a:r>
              <a:rPr lang="it-IT" sz="1600" dirty="0" err="1"/>
              <a:t>but</a:t>
            </a:r>
            <a:r>
              <a:rPr lang="it-IT" sz="1600" dirty="0"/>
              <a:t> </a:t>
            </a:r>
            <a:r>
              <a:rPr lang="it-IT" sz="1600" dirty="0" err="1"/>
              <a:t>they</a:t>
            </a:r>
            <a:r>
              <a:rPr lang="it-IT" sz="1600" dirty="0"/>
              <a:t> </a:t>
            </a:r>
            <a:r>
              <a:rPr lang="it-IT" sz="1600" b="1" dirty="0" err="1"/>
              <a:t>cannot</a:t>
            </a:r>
            <a:r>
              <a:rPr lang="it-IT" sz="1600" dirty="0"/>
              <a:t> be </a:t>
            </a:r>
            <a:r>
              <a:rPr lang="it-IT" sz="1600" dirty="0" err="1"/>
              <a:t>used</a:t>
            </a:r>
            <a:r>
              <a:rPr lang="it-IT" sz="1600" dirty="0"/>
              <a:t> to </a:t>
            </a:r>
            <a:r>
              <a:rPr lang="it-IT" sz="1600" dirty="0" err="1"/>
              <a:t>assess</a:t>
            </a:r>
            <a:r>
              <a:rPr lang="it-IT" sz="1600" dirty="0"/>
              <a:t> </a:t>
            </a:r>
            <a:r>
              <a:rPr lang="it-IT" sz="1600" dirty="0" err="1"/>
              <a:t>adherence</a:t>
            </a:r>
            <a:r>
              <a:rPr lang="it-IT" sz="1600" dirty="0"/>
              <a:t> to industrial real-time deadlines.</a:t>
            </a:r>
          </a:p>
          <a:p>
            <a:pPr algn="l"/>
            <a:endParaRPr lang="it-IT" sz="1600" dirty="0"/>
          </a:p>
        </p:txBody>
      </p:sp>
      <p:pic>
        <p:nvPicPr>
          <p:cNvPr id="8" name="Graphic 6" descr="Avviso">
            <a:extLst>
              <a:ext uri="{FF2B5EF4-FFF2-40B4-BE49-F238E27FC236}">
                <a16:creationId xmlns:a16="http://schemas.microsoft.com/office/drawing/2014/main" id="{ED65552A-9CFA-ACC0-AE3F-BB442CC3EDB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011475" y="1903051"/>
            <a:ext cx="3051897" cy="3051897"/>
          </a:xfrm>
          <a:prstGeom prst="rect">
            <a:avLst/>
          </a:prstGeom>
        </p:spPr>
      </p:pic>
    </p:spTree>
    <p:extLst>
      <p:ext uri="{BB962C8B-B14F-4D97-AF65-F5344CB8AC3E}">
        <p14:creationId xmlns:p14="http://schemas.microsoft.com/office/powerpoint/2010/main" val="7682007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BE233-56DD-C9CF-25C9-F76A93024E00}"/>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38D1971-CCA2-076E-8079-2E58F46669F4}"/>
              </a:ext>
            </a:extLst>
          </p:cNvPr>
          <p:cNvSpPr>
            <a:spLocks noGrp="1"/>
          </p:cNvSpPr>
          <p:nvPr>
            <p:ph type="ctrTitle"/>
          </p:nvPr>
        </p:nvSpPr>
        <p:spPr>
          <a:xfrm>
            <a:off x="652457" y="467998"/>
            <a:ext cx="9153020" cy="687868"/>
          </a:xfrm>
        </p:spPr>
        <p:txBody>
          <a:bodyPr>
            <a:normAutofit/>
          </a:bodyPr>
          <a:lstStyle/>
          <a:p>
            <a:r>
              <a:rPr lang="it-IT" sz="2800" dirty="0"/>
              <a:t>Real-Time </a:t>
            </a:r>
            <a:r>
              <a:rPr lang="it-IT" sz="2800" dirty="0" err="1"/>
              <a:t>Relevance</a:t>
            </a:r>
            <a:r>
              <a:rPr lang="it-IT" sz="2800" dirty="0"/>
              <a:t>: </a:t>
            </a:r>
            <a:r>
              <a:rPr lang="it-IT" sz="2800" dirty="0" err="1"/>
              <a:t>Where</a:t>
            </a:r>
            <a:r>
              <a:rPr lang="it-IT" sz="2800" dirty="0"/>
              <a:t> </a:t>
            </a:r>
            <a:r>
              <a:rPr lang="it-IT" sz="2800" dirty="0" err="1"/>
              <a:t>It</a:t>
            </a:r>
            <a:r>
              <a:rPr lang="it-IT" sz="2800" dirty="0"/>
              <a:t> </a:t>
            </a:r>
            <a:r>
              <a:rPr lang="it-IT" sz="2800" dirty="0" err="1"/>
              <a:t>Wins</a:t>
            </a:r>
            <a:r>
              <a:rPr lang="it-IT" sz="2800" dirty="0"/>
              <a:t>, </a:t>
            </a:r>
            <a:r>
              <a:rPr lang="it-IT" sz="2800" dirty="0" err="1"/>
              <a:t>Where</a:t>
            </a:r>
            <a:r>
              <a:rPr lang="it-IT" sz="2800" dirty="0"/>
              <a:t> </a:t>
            </a:r>
            <a:r>
              <a:rPr lang="it-IT" sz="2800" dirty="0" err="1"/>
              <a:t>It</a:t>
            </a:r>
            <a:r>
              <a:rPr lang="it-IT" sz="2800" dirty="0"/>
              <a:t> Waits</a:t>
            </a:r>
          </a:p>
        </p:txBody>
      </p:sp>
      <p:sp>
        <p:nvSpPr>
          <p:cNvPr id="10" name="CasellaDiTesto 9">
            <a:extLst>
              <a:ext uri="{FF2B5EF4-FFF2-40B4-BE49-F238E27FC236}">
                <a16:creationId xmlns:a16="http://schemas.microsoft.com/office/drawing/2014/main" id="{19B975CA-B009-CF41-9ED4-C7C0105F7668}"/>
              </a:ext>
            </a:extLst>
          </p:cNvPr>
          <p:cNvSpPr txBox="1"/>
          <p:nvPr/>
        </p:nvSpPr>
        <p:spPr>
          <a:xfrm>
            <a:off x="792176" y="2358129"/>
            <a:ext cx="4743586" cy="4278094"/>
          </a:xfrm>
          <a:prstGeom prst="rect">
            <a:avLst/>
          </a:prstGeom>
          <a:noFill/>
        </p:spPr>
        <p:txBody>
          <a:bodyPr wrap="square">
            <a:spAutoFit/>
          </a:bodyPr>
          <a:lstStyle/>
          <a:p>
            <a:r>
              <a:rPr lang="it-IT" sz="1600" b="1"/>
              <a:t>Massive Software Reuse: </a:t>
            </a:r>
            <a:r>
              <a:rPr lang="it-IT" sz="1600"/>
              <a:t>By elevating VirtIO directly over shared memory, the Zephyr RTOS interacts with the Linux backend as if it were interacting with physical hardware. Standard VirtIO drivers can be used without writing custom, proprietary RPC protocols from scratch.</a:t>
            </a:r>
          </a:p>
          <a:p>
            <a:endParaRPr lang="it-IT" sz="1600" dirty="0"/>
          </a:p>
          <a:p>
            <a:r>
              <a:rPr lang="it-IT" sz="1600" b="1"/>
              <a:t>True Bare-Metal Determinism:</a:t>
            </a:r>
            <a:r>
              <a:rPr lang="it-IT" sz="1600"/>
              <a:t> Removing the heavyweight hypervisor eliminates VM-exits and hypervisor scheduling overhead. The </a:t>
            </a:r>
            <a:r>
              <a:rPr lang="it-IT" sz="1600" b="1"/>
              <a:t>Cortex-R5</a:t>
            </a:r>
            <a:r>
              <a:rPr lang="it-IT" sz="1600"/>
              <a:t> core runs natively on bare-metal, achieving desired determinism for its local tasks</a:t>
            </a:r>
          </a:p>
          <a:p>
            <a:endParaRPr lang="it-IT" sz="1600" dirty="0"/>
          </a:p>
          <a:p>
            <a:r>
              <a:rPr lang="it-IT" sz="1600" b="1" dirty="0"/>
              <a:t>Direct Hardware </a:t>
            </a:r>
            <a:r>
              <a:rPr lang="it-IT" sz="1600" b="1" dirty="0" err="1"/>
              <a:t>Signaling</a:t>
            </a:r>
            <a:r>
              <a:rPr lang="it-IT" sz="1600" b="1" dirty="0"/>
              <a:t>:</a:t>
            </a:r>
            <a:r>
              <a:rPr lang="it-IT" sz="1600" dirty="0"/>
              <a:t> </a:t>
            </a:r>
            <a:r>
              <a:rPr lang="it-IT" sz="1600" dirty="0" err="1"/>
              <a:t>Uses</a:t>
            </a:r>
            <a:r>
              <a:rPr lang="it-IT" sz="1600" dirty="0"/>
              <a:t> </a:t>
            </a:r>
            <a:r>
              <a:rPr lang="it-IT" sz="1600" dirty="0" err="1"/>
              <a:t>physical</a:t>
            </a:r>
            <a:r>
              <a:rPr lang="it-IT" sz="1600" dirty="0"/>
              <a:t> </a:t>
            </a:r>
            <a:r>
              <a:rPr lang="it-IT" sz="1600" b="1" dirty="0"/>
              <a:t>Inter-Processor Interrupts</a:t>
            </a:r>
            <a:r>
              <a:rPr lang="it-IT" sz="1600" dirty="0"/>
              <a:t> (</a:t>
            </a:r>
            <a:r>
              <a:rPr lang="it-IT" sz="1600" b="1" dirty="0" err="1"/>
              <a:t>IPIs</a:t>
            </a:r>
            <a:r>
              <a:rPr lang="it-IT" sz="1600" dirty="0"/>
              <a:t>) for </a:t>
            </a:r>
            <a:r>
              <a:rPr lang="it-IT" sz="1600" dirty="0" err="1"/>
              <a:t>direct</a:t>
            </a:r>
            <a:r>
              <a:rPr lang="it-IT" sz="1600" dirty="0"/>
              <a:t> </a:t>
            </a:r>
            <a:r>
              <a:rPr lang="it-IT" sz="1600"/>
              <a:t>core-to-core signaling.</a:t>
            </a:r>
            <a:endParaRPr lang="it-IT" sz="1600" dirty="0"/>
          </a:p>
        </p:txBody>
      </p:sp>
      <p:sp>
        <p:nvSpPr>
          <p:cNvPr id="12" name="CasellaDiTesto 11">
            <a:extLst>
              <a:ext uri="{FF2B5EF4-FFF2-40B4-BE49-F238E27FC236}">
                <a16:creationId xmlns:a16="http://schemas.microsoft.com/office/drawing/2014/main" id="{DF96598D-9FE4-B2D0-B6AA-2D851F845658}"/>
              </a:ext>
            </a:extLst>
          </p:cNvPr>
          <p:cNvSpPr txBox="1"/>
          <p:nvPr/>
        </p:nvSpPr>
        <p:spPr>
          <a:xfrm>
            <a:off x="6656240" y="2358129"/>
            <a:ext cx="5095158" cy="4278094"/>
          </a:xfrm>
          <a:prstGeom prst="rect">
            <a:avLst/>
          </a:prstGeom>
          <a:noFill/>
        </p:spPr>
        <p:txBody>
          <a:bodyPr wrap="square">
            <a:spAutoFit/>
          </a:bodyPr>
          <a:lstStyle/>
          <a:p>
            <a:r>
              <a:rPr lang="it-IT" sz="1600" b="1"/>
              <a:t>Security Vulnerabilities:</a:t>
            </a:r>
            <a:r>
              <a:rPr lang="it-IT" sz="1600"/>
              <a:t> The PMM operates in Linux user-space with direct access to the pre-shared memory pool. Without strict hardware separation, a compromised "rich OS" could expose the RTOS memory to external vulnerabilities</a:t>
            </a:r>
          </a:p>
          <a:p>
            <a:endParaRPr lang="it-IT" sz="1600" dirty="0"/>
          </a:p>
          <a:p>
            <a:r>
              <a:rPr lang="it-IT" sz="1600" b="1" dirty="0"/>
              <a:t>Explicit Memory Copies</a:t>
            </a:r>
            <a:r>
              <a:rPr lang="it-IT" sz="1600" b="1"/>
              <a:t>:</a:t>
            </a:r>
            <a:r>
              <a:rPr lang="it-IT" sz="1600"/>
              <a:t> The </a:t>
            </a:r>
            <a:r>
              <a:rPr lang="it-IT" sz="1600" dirty="0" err="1"/>
              <a:t>lack</a:t>
            </a:r>
            <a:r>
              <a:rPr lang="it-IT" sz="1600" dirty="0"/>
              <a:t> of </a:t>
            </a:r>
            <a:r>
              <a:rPr lang="it-IT" sz="1600" dirty="0" err="1"/>
              <a:t>shared-memory</a:t>
            </a:r>
            <a:r>
              <a:rPr lang="it-IT" sz="1600" dirty="0"/>
              <a:t> </a:t>
            </a:r>
            <a:r>
              <a:rPr lang="it-IT" sz="1600" b="1" dirty="0" err="1"/>
              <a:t>awareness</a:t>
            </a:r>
            <a:r>
              <a:rPr lang="it-IT" sz="1600" dirty="0"/>
              <a:t> in standard </a:t>
            </a:r>
            <a:r>
              <a:rPr lang="it-IT" sz="1600" dirty="0" err="1"/>
              <a:t>frontend</a:t>
            </a:r>
            <a:r>
              <a:rPr lang="it-IT" sz="1600" dirty="0"/>
              <a:t> drivers </a:t>
            </a:r>
            <a:r>
              <a:rPr lang="it-IT" sz="1600" dirty="0" err="1"/>
              <a:t>mandates</a:t>
            </a:r>
            <a:r>
              <a:rPr lang="it-IT" sz="1600" dirty="0"/>
              <a:t> an explicit </a:t>
            </a:r>
            <a:r>
              <a:rPr lang="it-IT" sz="1600" dirty="0" err="1"/>
              <a:t>memcpy</a:t>
            </a:r>
            <a:r>
              <a:rPr lang="it-IT" sz="1600" dirty="0"/>
              <a:t> </a:t>
            </a:r>
            <a:r>
              <a:rPr lang="it-IT" sz="1600" dirty="0" err="1"/>
              <a:t>into</a:t>
            </a:r>
            <a:r>
              <a:rPr lang="it-IT" sz="1600" dirty="0"/>
              <a:t> the </a:t>
            </a:r>
            <a:r>
              <a:rPr lang="it-IT" sz="1600" dirty="0" err="1"/>
              <a:t>shared</a:t>
            </a:r>
            <a:r>
              <a:rPr lang="it-IT" sz="1600" dirty="0"/>
              <a:t> </a:t>
            </a:r>
            <a:r>
              <a:rPr lang="it-IT" sz="1600" dirty="0" err="1"/>
              <a:t>bounce</a:t>
            </a:r>
            <a:r>
              <a:rPr lang="it-IT" sz="1600" dirty="0"/>
              <a:t> buffers, </a:t>
            </a:r>
            <a:r>
              <a:rPr lang="it-IT" sz="1600" b="1" dirty="0" err="1"/>
              <a:t>limiting</a:t>
            </a:r>
            <a:r>
              <a:rPr lang="it-IT" sz="1600" b="1" dirty="0"/>
              <a:t> throughput</a:t>
            </a:r>
            <a:r>
              <a:rPr lang="it-IT" sz="1600" dirty="0"/>
              <a:t>.</a:t>
            </a:r>
          </a:p>
          <a:p>
            <a:pPr>
              <a:buFont typeface="Arial" panose="020B0604020202020204" pitchFamily="34" charset="0"/>
              <a:buChar char="•"/>
            </a:pPr>
            <a:endParaRPr lang="it-IT" sz="1600"/>
          </a:p>
          <a:p>
            <a:r>
              <a:rPr lang="it-IT" sz="1600" b="1"/>
              <a:t>Inherited Jitter on the Communication Path:</a:t>
            </a:r>
            <a:r>
              <a:rPr lang="it-IT" sz="1600"/>
              <a:t> While the RTOS is deterministic, the inter-processor data exchange is not. Waking up the Linux PMM relies on the Linux OS scheduler (kernel module) introducing latency and the typical jitter of general-purpose operating systems.</a:t>
            </a:r>
            <a:endParaRPr lang="it-IT" sz="1600" dirty="0"/>
          </a:p>
        </p:txBody>
      </p:sp>
      <p:pic>
        <p:nvPicPr>
          <p:cNvPr id="20" name="Elemento grafico 19" descr="Badge Non seguire più contorno">
            <a:extLst>
              <a:ext uri="{FF2B5EF4-FFF2-40B4-BE49-F238E27FC236}">
                <a16:creationId xmlns:a16="http://schemas.microsoft.com/office/drawing/2014/main" id="{9EADCBF0-B8AC-8396-9224-61BC01251E8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724831" y="1232463"/>
            <a:ext cx="914400" cy="914400"/>
          </a:xfrm>
          <a:prstGeom prst="rect">
            <a:avLst/>
          </a:prstGeom>
        </p:spPr>
      </p:pic>
      <p:pic>
        <p:nvPicPr>
          <p:cNvPr id="22" name="Elemento grafico 21" descr="Badge Segui contorno">
            <a:extLst>
              <a:ext uri="{FF2B5EF4-FFF2-40B4-BE49-F238E27FC236}">
                <a16:creationId xmlns:a16="http://schemas.microsoft.com/office/drawing/2014/main" id="{227F668F-2AB6-FFF7-63AC-4F69EA840CC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2769" y="1232463"/>
            <a:ext cx="914400" cy="914400"/>
          </a:xfrm>
          <a:prstGeom prst="rect">
            <a:avLst/>
          </a:prstGeom>
        </p:spPr>
      </p:pic>
    </p:spTree>
    <p:extLst>
      <p:ext uri="{BB962C8B-B14F-4D97-AF65-F5344CB8AC3E}">
        <p14:creationId xmlns:p14="http://schemas.microsoft.com/office/powerpoint/2010/main" val="3734855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EC60F23C-0E01-98EE-424C-0A2D85E65842}"/>
              </a:ext>
            </a:extLst>
          </p:cNvPr>
          <p:cNvSpPr/>
          <p:nvPr/>
        </p:nvSpPr>
        <p:spPr>
          <a:xfrm>
            <a:off x="3494638" y="5984340"/>
            <a:ext cx="5205742" cy="560479"/>
          </a:xfrm>
          <a:prstGeom prst="rect">
            <a:avLst/>
          </a:prstGeom>
          <a:solidFill>
            <a:schemeClr val="accent6">
              <a:lumMod val="20000"/>
              <a:lumOff val="80000"/>
            </a:schemeClr>
          </a:solidFill>
          <a:ln w="571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Titolo 1">
            <a:extLst>
              <a:ext uri="{FF2B5EF4-FFF2-40B4-BE49-F238E27FC236}">
                <a16:creationId xmlns:a16="http://schemas.microsoft.com/office/drawing/2014/main" id="{386D2002-30C2-D166-C01A-9820CF47D4EF}"/>
              </a:ext>
            </a:extLst>
          </p:cNvPr>
          <p:cNvSpPr>
            <a:spLocks noGrp="1"/>
          </p:cNvSpPr>
          <p:nvPr>
            <p:ph type="ctrTitle"/>
          </p:nvPr>
        </p:nvSpPr>
        <p:spPr>
          <a:xfrm>
            <a:off x="438399" y="544010"/>
            <a:ext cx="4307221" cy="560479"/>
          </a:xfrm>
        </p:spPr>
        <p:txBody>
          <a:bodyPr>
            <a:normAutofit/>
          </a:bodyPr>
          <a:lstStyle/>
          <a:p>
            <a:r>
              <a:rPr lang="it-IT" sz="2800" dirty="0" err="1"/>
              <a:t>Questions</a:t>
            </a:r>
            <a:r>
              <a:rPr lang="it-IT" sz="2800" dirty="0"/>
              <a:t> &amp; </a:t>
            </a:r>
            <a:r>
              <a:rPr lang="it-IT" sz="2800" dirty="0" err="1"/>
              <a:t>Answers</a:t>
            </a:r>
            <a:endParaRPr lang="it-IT" sz="2800" dirty="0"/>
          </a:p>
        </p:txBody>
      </p:sp>
      <p:pic>
        <p:nvPicPr>
          <p:cNvPr id="7" name="Elemento grafico 6">
            <a:extLst>
              <a:ext uri="{FF2B5EF4-FFF2-40B4-BE49-F238E27FC236}">
                <a16:creationId xmlns:a16="http://schemas.microsoft.com/office/drawing/2014/main" id="{523F727E-9805-CD4E-06E0-D9E0302F5DB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306114" y="1770081"/>
            <a:ext cx="3579772" cy="3317837"/>
          </a:xfrm>
          <a:prstGeom prst="rect">
            <a:avLst/>
          </a:prstGeom>
        </p:spPr>
      </p:pic>
      <p:sp>
        <p:nvSpPr>
          <p:cNvPr id="3" name="Titolo 1">
            <a:extLst>
              <a:ext uri="{FF2B5EF4-FFF2-40B4-BE49-F238E27FC236}">
                <a16:creationId xmlns:a16="http://schemas.microsoft.com/office/drawing/2014/main" id="{BC036D9B-E7F1-91C8-B10B-D891D7B01E48}"/>
              </a:ext>
            </a:extLst>
          </p:cNvPr>
          <p:cNvSpPr txBox="1">
            <a:spLocks/>
          </p:cNvSpPr>
          <p:nvPr/>
        </p:nvSpPr>
        <p:spPr>
          <a:xfrm>
            <a:off x="3503344" y="5956473"/>
            <a:ext cx="5185312" cy="560479"/>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4000" b="1" kern="1200">
                <a:solidFill>
                  <a:schemeClr val="tx1"/>
                </a:solidFill>
                <a:latin typeface="+mj-lt"/>
                <a:ea typeface="+mj-ea"/>
                <a:cs typeface="+mj-cs"/>
              </a:defRPr>
            </a:lvl1pPr>
          </a:lstStyle>
          <a:p>
            <a:r>
              <a:rPr lang="it-IT" sz="2800"/>
              <a:t>Thank you for your Attention</a:t>
            </a:r>
            <a:endParaRPr lang="it-IT" sz="2800" dirty="0"/>
          </a:p>
        </p:txBody>
      </p:sp>
    </p:spTree>
    <p:extLst>
      <p:ext uri="{BB962C8B-B14F-4D97-AF65-F5344CB8AC3E}">
        <p14:creationId xmlns:p14="http://schemas.microsoft.com/office/powerpoint/2010/main" val="4108662152"/>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098069F-E115-48EF-9D3F-88852A1C8177}">
  <we:reference id="WA200005566" version="3.0.0.3" store="Omex" storeType="OMEX"/>
  <we:alternateReferences>
    <we:reference id="WA200005566" version="3.0.0.3"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545</TotalTime>
  <Words>1020</Words>
  <Application>Microsoft Office PowerPoint</Application>
  <PresentationFormat>Widescreen</PresentationFormat>
  <Paragraphs>73</Paragraphs>
  <Slides>15</Slides>
  <Notes>0</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15</vt:i4>
      </vt:variant>
    </vt:vector>
  </HeadingPairs>
  <TitlesOfParts>
    <vt:vector size="20" baseType="lpstr">
      <vt:lpstr>Batang</vt:lpstr>
      <vt:lpstr>Arial</vt:lpstr>
      <vt:lpstr>Neue Haas Grotesk Text Pro</vt:lpstr>
      <vt:lpstr>Times New Roman</vt:lpstr>
      <vt:lpstr>VanillaVTI</vt:lpstr>
      <vt:lpstr>Investigating Real-Time Communication Between Asymmetric Processors with OpenAMP  </vt:lpstr>
      <vt:lpstr>Standard IPC in Heterogeneous AMP Systems</vt:lpstr>
      <vt:lpstr>Beyond RPMsg: Hypervisorless VirtIO in AMP Architectures </vt:lpstr>
      <vt:lpstr>Reference Platform &amp; Hardware Emulation </vt:lpstr>
      <vt:lpstr>Data Path Optimization: VirtQueues &amp; Bounce Buffers </vt:lpstr>
      <vt:lpstr>From VM-Exits to Hardware IPIs </vt:lpstr>
      <vt:lpstr>Execution Flow</vt:lpstr>
      <vt:lpstr>Mapping Theory to Code</vt:lpstr>
      <vt:lpstr>Static Memory Inspection</vt:lpstr>
      <vt:lpstr>Dynamic Payload Interception</vt:lpstr>
      <vt:lpstr>Custom Firmware Instrumentation</vt:lpstr>
      <vt:lpstr>Latency Analysis in Zync UltraScale+ with QEMU</vt:lpstr>
      <vt:lpstr>Contextualizing Time and Emulation Limits</vt:lpstr>
      <vt:lpstr>Real-Time Relevance: Where It Wins, Where It Waits</vt:lpstr>
      <vt:lpstr>Questions &amp; Answers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LUIGI AUGGIERO</dc:creator>
  <cp:lastModifiedBy>EMANUELE BARBATO</cp:lastModifiedBy>
  <cp:revision>19</cp:revision>
  <dcterms:created xsi:type="dcterms:W3CDTF">2026-07-16T19:54:58Z</dcterms:created>
  <dcterms:modified xsi:type="dcterms:W3CDTF">2026-07-18T10:29:19Z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ad0b24d-6422-44b0-b3de-abb3a9e8c81a_Enabled">
    <vt:lpwstr>true</vt:lpwstr>
  </property>
  <property fmtid="{D5CDD505-2E9C-101B-9397-08002B2CF9AE}" pid="3" name="MSIP_Label_2ad0b24d-6422-44b0-b3de-abb3a9e8c81a_SetDate">
    <vt:lpwstr>2026-07-17T17:25:39Z</vt:lpwstr>
  </property>
  <property fmtid="{D5CDD505-2E9C-101B-9397-08002B2CF9AE}" pid="4" name="MSIP_Label_2ad0b24d-6422-44b0-b3de-abb3a9e8c81a_Method">
    <vt:lpwstr>Standard</vt:lpwstr>
  </property>
  <property fmtid="{D5CDD505-2E9C-101B-9397-08002B2CF9AE}" pid="5" name="MSIP_Label_2ad0b24d-6422-44b0-b3de-abb3a9e8c81a_Name">
    <vt:lpwstr>defa4170-0d19-0005-0004-bc88714345d2</vt:lpwstr>
  </property>
  <property fmtid="{D5CDD505-2E9C-101B-9397-08002B2CF9AE}" pid="6" name="MSIP_Label_2ad0b24d-6422-44b0-b3de-abb3a9e8c81a_SiteId">
    <vt:lpwstr>2fcfe26a-bb62-46b0-b1e3-28f9da0c45fd</vt:lpwstr>
  </property>
  <property fmtid="{D5CDD505-2E9C-101B-9397-08002B2CF9AE}" pid="7" name="MSIP_Label_2ad0b24d-6422-44b0-b3de-abb3a9e8c81a_ActionId">
    <vt:lpwstr>f19b9687-d346-4c67-9ab0-6e0c36365b58</vt:lpwstr>
  </property>
  <property fmtid="{D5CDD505-2E9C-101B-9397-08002B2CF9AE}" pid="8" name="MSIP_Label_2ad0b24d-6422-44b0-b3de-abb3a9e8c81a_ContentBits">
    <vt:lpwstr>0</vt:lpwstr>
  </property>
  <property fmtid="{D5CDD505-2E9C-101B-9397-08002B2CF9AE}" pid="9" name="MSIP_Label_2ad0b24d-6422-44b0-b3de-abb3a9e8c81a_Tag">
    <vt:lpwstr>10, 3, 0, 1</vt:lpwstr>
  </property>
</Properties>
</file>